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화면은 입력과 전시만 하고, 판단(검사/검색)은 PhoneBookManager가 담당합니다. 데이터는 ObservableCollection에 저장되어 변경 시 ListView가 자동으로 갱신됩니다.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1463040"/>
            <a:ext cx="1005840" cy="1005840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</a:rPr>
              <a:t>전화번호부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9D3DB"/>
                </a:solidFill>
                <a:latin typeface="맑은 고딕"/>
                <a:ea typeface="맑은 고딕"/>
              </a:rPr>
              <a:t>이름과 전화번호를 추가 · 삭제 · 검색 · 전시하는 WPF 프로그램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754880"/>
            <a:ext cx="995680" cy="4572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9956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추가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47240" y="4754880"/>
            <a:ext cx="995680" cy="4572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47240" y="4754880"/>
            <a:ext cx="9956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삭제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1520" y="4754880"/>
            <a:ext cx="995680" cy="4572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1520" y="4754880"/>
            <a:ext cx="9956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검색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4754880"/>
            <a:ext cx="995680" cy="45720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4754880"/>
            <a:ext cx="9956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전시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C99A3"/>
                </a:solidFill>
                <a:latin typeface="맑은 고딕"/>
                <a:ea typeface="맑은 고딕"/>
              </a:rPr>
              <a:t>SW 개발 기초 세미나  ·  C# / WPF (.NET 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프로그램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요구사항 4가지를 각각 하나의 기능으로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01 전화번호부  |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64208"/>
            <a:ext cx="246887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2971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빈 값 → 형식(정규식) → 중복 순서로 검사 후 등록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실패 시 사유를 MessageBox로 안내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46304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1691640"/>
            <a:ext cx="411480" cy="411480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1664208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삭제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2971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ListView에서 선택한 항목 삭제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Yes/No 확인 창으로 실수 방지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069080"/>
            <a:ext cx="411480" cy="411480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041648"/>
            <a:ext cx="246887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검색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2971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이름 또는 전화번호 부분 일치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LINQ Where + Contains 사용, Enter 키 지원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84048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4069080"/>
            <a:ext cx="411480" cy="411480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4041648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전시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617720"/>
            <a:ext cx="2971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ListView + GridView 표 형태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ObservableCollection으로 추가/삭제 즉시 반영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1463040"/>
            <a:ext cx="3703320" cy="4572000"/>
          </a:xfrm>
          <a:prstGeom prst="roundRect">
            <a:avLst>
              <a:gd name="adj" fmla="val 8000"/>
            </a:avLst>
          </a:prstGeom>
          <a:solidFill>
            <a:srgbClr val="E3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64592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파일 구성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48840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Contact.cs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44144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연락처 1건 데이터 (Model)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926080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PhoneBookManager.cs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21868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추가 · 삭제 · 검색 로직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703320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MainWindow.xaml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99592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화면 레이아웃 (입력 / 검색 / 목록)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480559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MainWindow.xaml.cs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7316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버튼 이벤트 → Manager 호출 → 전시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257799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App.xaml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5550407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프로그램 시작점 (MainWindow 실행)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변수 명명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모든 변수는 camelCase · C# 표준 규칙과 함께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01 전화번호부  |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611880" cy="46634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7C80"/>
                </a:solidFill>
                <a:latin typeface="맑은 고딕"/>
                <a:ea typeface="맑은 고딕"/>
              </a:rPr>
              <a:t>camelCase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변수 · 필드 · 상수 · 매개변수 · 컨트롤 이름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31089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첫 단어 소문자, 이후 단어 첫 글자만 대문자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약어 대신 의미가 드러나는 완전한 단어 사용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bool은 is / has 접두어 → if문이 문장처럼 읽힘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709160"/>
            <a:ext cx="3154680" cy="1234440"/>
          </a:xfrm>
          <a:prstGeom prst="roundRect">
            <a:avLst>
              <a:gd name="adj" fmla="val 6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2880360" cy="1051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phoneNumber
selectedContact
errorMessage
phoneBookManager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611880" cy="46634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459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7C80"/>
                </a:solidFill>
                <a:latin typeface="맑은 고딕"/>
                <a:ea typeface="맑은 고딕"/>
              </a:rPr>
              <a:t>PascalCase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488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클래스 · 메서드 · 속성 · 이벤트 (변수 아님)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43200"/>
            <a:ext cx="31089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C# 공식 명명 규칙(Microsoft 가이드)을 따름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변수(camelCase)와 한눈에 구분됨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속성은 XAML 바인딩 대상이라 PascalCase 유지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709160"/>
            <a:ext cx="3154680" cy="1234440"/>
          </a:xfrm>
          <a:prstGeom prst="roundRect">
            <a:avLst>
              <a:gd name="adj" fmla="val 6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4800600"/>
            <a:ext cx="2880360" cy="1051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class PhoneBookManager
Add() / Search()
Contact.Name
ContactList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463040"/>
            <a:ext cx="3611880" cy="46634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7C80"/>
                </a:solidFill>
                <a:latin typeface="맑은 고딕"/>
                <a:ea typeface="맑은 고딕"/>
              </a:rPr>
              <a:t>컨트롤 접미어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488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XAML x:Name (화면 컨트롤 변수)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43200"/>
            <a:ext cx="31089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의미 + 컨트롤 종류 순서로 이름 작성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코드에서 이름만 보고 타입을 알 수 있음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예: TextBox / Button / ListBox / ComboBox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4709160"/>
            <a:ext cx="3154680" cy="1234440"/>
          </a:xfrm>
          <a:prstGeom prst="roundRect">
            <a:avLst>
              <a:gd name="adj" fmla="val 6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800600"/>
            <a:ext cx="2880360" cy="1051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nameTextBox
addButton
contactListView
statusTextBlock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선언 변수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선언한 변수 전체 목록 (1/2)  ·  모두 camelCase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01 전화번호부  | 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3703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/>
                <a:gridCol w="1691640"/>
                <a:gridCol w="1920240"/>
                <a:gridCol w="246888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변수명</a:t>
                      </a:r>
                    </a:p>
                  </a:txBody>
                  <a:tcPr marL="73152" marR="73152" marT="36576" marB="36576" anchor="ctr">
                    <a:solidFill>
                      <a:srgbClr val="0F7C8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타입</a:t>
                      </a:r>
                    </a:p>
                  </a:txBody>
                  <a:tcPr marL="73152" marR="73152" marT="36576" marB="36576" anchor="ctr">
                    <a:solidFill>
                      <a:srgbClr val="0F7C8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 · 위치</a:t>
                      </a:r>
                    </a:p>
                  </a:txBody>
                  <a:tcPr marL="73152" marR="73152" marT="36576" marB="36576" anchor="ctr">
                    <a:solidFill>
                      <a:srgbClr val="0F7C8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0F7C8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이렇게 지은 이유</a:t>
                      </a:r>
                    </a:p>
                  </a:txBody>
                  <a:tcPr marL="73152" marR="73152" marT="36576" marB="36576" anchor="ctr">
                    <a:solidFill>
                      <a:srgbClr val="0F7C8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phonePattern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Regex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필드(static readonly) · PhoneBookManager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전화번호 형식 검사 규칙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검사 대상(phone) + 규칙(pattern) → 무엇을 검사하는지 바로 보임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contactList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ObservableCollection&lt;Contact&gt;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필드 · PhoneBookManager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전체 연락처 목록 저장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contact + List → '여러 연락처의 모음'임을 표시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phoneBookManager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PhoneBookManager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필드 · MainWindow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추가/삭제/검색 로직 객체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클래스 이름을 camelCase로 그대로 → 타입과 역할 일치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name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Add / 지역 · AddButton_Click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입력된 이름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Contact.Name 속성과 같은 단어 → 값의 연결이 명확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phoneNumber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Add / 지역 · AddButton_Click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입력된 전화번호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phone만 쓰면 '전화기'와 혼동 → Number를 붙여 값임을 표시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errorMessage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out 매개변수 · Add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추가 실패 사유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용도(error) + 형태(message) → 화면에 띄울 문장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선언 변수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선언한 변수 전체 목록 (2/2)  ·  모두 camelCase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01 전화번호부  | 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315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/>
                <a:gridCol w="1691640"/>
                <a:gridCol w="1920240"/>
                <a:gridCol w="246888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변수명</a:t>
                      </a:r>
                    </a:p>
                  </a:txBody>
                  <a:tcPr marL="73152" marR="73152" marT="36576" marB="36576" anchor="ctr">
                    <a:solidFill>
                      <a:srgbClr val="0F7C8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타입</a:t>
                      </a:r>
                    </a:p>
                  </a:txBody>
                  <a:tcPr marL="73152" marR="73152" marT="36576" marB="36576" anchor="ctr">
                    <a:solidFill>
                      <a:srgbClr val="0F7C8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 · 위치</a:t>
                      </a:r>
                    </a:p>
                  </a:txBody>
                  <a:tcPr marL="73152" marR="73152" marT="36576" marB="36576" anchor="ctr">
                    <a:solidFill>
                      <a:srgbClr val="0F7C8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0F7C8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이렇게 지은 이유</a:t>
                      </a:r>
                    </a:p>
                  </a:txBody>
                  <a:tcPr marL="73152" marR="73152" marT="36576" marB="36576" anchor="ctr">
                    <a:solidFill>
                      <a:srgbClr val="0F7C8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contact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Contact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Remove / 람다식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삭제 · 비교 대상 연락처 1건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단수형 → 목록(contactList)과 구분되는 한 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keyword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Search / 지역 · Search()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검색어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검색 기능에서 통용되는 용어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selectedContact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Contact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DeleteButton_Click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ListView에서 선택한 연락처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selected 접두어 → 사용자가 고른 항목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answer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MessageBoxResult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DeleteButton_Click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삭제 확인 응답 (Yes/No)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'삭제할까요?' 질문에 대한 대답이라는 의미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sender / 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object / RoutedEventArgs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이벤트 핸들러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이벤트 발생 컨트롤 / 이벤트 정보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WPF 이벤트 핸들러 표준 이름 그대로 사용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화면 컨트롤 이름 (x:Name)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XAML에서 선언한 컨트롤 변수 · 의미 + 컨트롤 종류 접미어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01 전화번호부  | 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526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8960"/>
                <a:gridCol w="1737360"/>
                <a:gridCol w="62179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컨트롤 이름</a:t>
                      </a:r>
                    </a:p>
                  </a:txBody>
                  <a:tcPr marL="73152" marR="73152" marT="36576" marB="36576" anchor="ctr">
                    <a:solidFill>
                      <a:srgbClr val="0F7C8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종류</a:t>
                      </a:r>
                    </a:p>
                  </a:txBody>
                  <a:tcPr marL="73152" marR="73152" marT="36576" marB="36576" anchor="ctr">
                    <a:solidFill>
                      <a:srgbClr val="0F7C8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용도</a:t>
                      </a:r>
                    </a:p>
                  </a:txBody>
                  <a:tcPr marL="73152" marR="73152" marT="36576" marB="36576" anchor="ctr">
                    <a:solidFill>
                      <a:srgbClr val="0F7C8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nameTextBox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이름 입력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phoneTextBox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전화번호 입력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addButton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Button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연락처 추가 실행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searchTextBox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검색어 입력 (Enter 키로 검색)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searchButton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Button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검색 실행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showAllButton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Button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검색 해제 → 전체 목록 표시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contactListView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ListView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연락처 표 전시 (이름 / 전화번호 열)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deleteButton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Button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선택한 연락처 삭제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E61"/>
                          </a:solidFill>
                          <a:latin typeface="Consolas"/>
                          <a:ea typeface="맑은 고딕"/>
                        </a:rPr>
                        <a:t>statusTextBlock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TextBlock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전체 인원 수 / 검색 결과 건수 표시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구현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화면(UI) · 로직 · 데이터를 분리하여 역할을 나눔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01 전화번호부  |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108960" cy="1188720"/>
          </a:xfrm>
          <a:prstGeom prst="roundRect">
            <a:avLst>
              <a:gd name="adj" fmla="val 8000"/>
            </a:avLst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926079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MainWindow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화면 · 이벤트 처리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600200"/>
            <a:ext cx="3108960" cy="1188720"/>
          </a:xfrm>
          <a:prstGeom prst="roundRect">
            <a:avLst>
              <a:gd name="adj" fmla="val 8000"/>
            </a:avLst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926079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PhoneBookManager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추가 · 삭제 · 검색 로직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600200"/>
            <a:ext cx="3108960" cy="1188720"/>
          </a:xfrm>
          <a:prstGeom prst="roundRect">
            <a:avLst>
              <a:gd name="adj" fmla="val 8000"/>
            </a:avLst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645920"/>
            <a:ext cx="2926079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ObservableCollection&lt;Contact&gt;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</a:rPr>
              <a:t>연락처 데이터 저장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49039" y="2011680"/>
            <a:ext cx="685800" cy="365760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726679" y="2011680"/>
            <a:ext cx="685800" cy="365760"/>
          </a:xfrm>
          <a:prstGeom prst="rightArrow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292608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버튼 클릭 이벤트 수신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TextBox 값을 읽어 Manager에 전달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결과를 ListView / 상태 표시줄에 전시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17520"/>
            <a:ext cx="292608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입력값 검사 (빈 값 · 형식 · 중복)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LINQ로 검색 결과 생성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UI 코드가 없어 재사용 · 테스트 쉬움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017520"/>
            <a:ext cx="292608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Contact 객체 목록 보관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추가/삭제 시 CollectionChanged 발생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바인딩된 ListView가 자동 갱신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E3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C80"/>
                </a:solidFill>
                <a:latin typeface="맑은 고딕"/>
                <a:ea typeface="맑은 고딕"/>
              </a:rPr>
              <a:t>핵심 : </a:t>
            </a:r>
            <a:r>
              <a:rPr sz="1400" b="0">
                <a:solidFill>
                  <a:srgbClr val="1E2A33"/>
                </a:solidFill>
                <a:latin typeface="맑은 고딕"/>
                <a:ea typeface="맑은 고딕"/>
              </a:rPr>
              <a:t>데이터가 바뀌면 ObservableCollection이 UI에 알림 → ListView를 다시 그리는 코드를 직접 작성할 필요 없음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핵심 구현 ① 추가 – 3단계 검사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PhoneBookManager.Add() : 성공 여부(bool) + 실패 사유(out string) 반환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01 전화번호부  | 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6675120" cy="4480560"/>
          </a:xfrm>
          <a:prstGeom prst="roundRect">
            <a:avLst>
              <a:gd name="adj" fmla="val 4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30935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public bool Add(string name, string phoneNumber,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                out string errorMessage)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    // ① 빈 값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    if (string.IsNullOrWhiteSpace(name) || ...)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    { errorMessage = "..."; return false; }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    // ② 형식 : ^\d{2,3}-?\d{3,4}-?\d{4}$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    if (!phonePattern.IsMatch(phoneNumber)) ...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    // ③ 중복 : 같은 번호가 하나라도 있으면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    if (contactList.Any(c =&gt; c.PhoneNumber == phoneNumber)) ...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    contactList.Add(new Contact { ... });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    return true;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63040"/>
            <a:ext cx="4114800" cy="132588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0" y="1645920"/>
            <a:ext cx="411480" cy="411480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18488"/>
            <a:ext cx="3200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빈 값 검사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121408"/>
            <a:ext cx="374903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IsNullOrWhiteSpace : null, "", 공백만 입력 모두 걸러냄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971800"/>
            <a:ext cx="4114800" cy="132588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0" y="3154680"/>
            <a:ext cx="411480" cy="411480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127248"/>
            <a:ext cx="3200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형식 검사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630168"/>
            <a:ext cx="374903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정규식으로 010-1234-5678, 01012345678, 02-123-4567 허용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4480560"/>
            <a:ext cx="4114800" cy="132588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80960" y="4663440"/>
            <a:ext cx="411480" cy="411480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636008"/>
            <a:ext cx="32004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중복 검사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138928"/>
            <a:ext cx="374903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LINQ Any : 조건을 만족하는 항목이 하나라도 있으면 true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핵심 구현 ② 검색 · 삭제 · 전시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ListView의 ItemsSource를 바꿔 끼우는 방식으로 전체/검색 결과 전환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01 전화번호부  | 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611880" cy="4572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64208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2A33"/>
                </a:solidFill>
                <a:latin typeface="맑은 고딕"/>
                <a:ea typeface="맑은 고딕"/>
              </a:rPr>
              <a:t>검색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3154680" cy="1920240"/>
          </a:xfrm>
          <a:prstGeom prst="roundRect">
            <a:avLst>
              <a:gd name="adj" fmla="val 4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68879"/>
            <a:ext cx="27889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contactList.Where(c =&gt;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c.Name.Contains(keyword) ||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c.PhoneNumber.Contains(keyword))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.ToList();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31546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결과 List를 ItemsSource에 연결 → 검색 결과만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611880" cy="4572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1691640"/>
            <a:ext cx="411480" cy="411480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664208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2A33"/>
                </a:solidFill>
                <a:latin typeface="맑은 고딕"/>
                <a:ea typeface="맑은 고딕"/>
              </a:rPr>
              <a:t>삭제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331720"/>
            <a:ext cx="3154680" cy="1920240"/>
          </a:xfrm>
          <a:prstGeom prst="roundRect">
            <a:avLst>
              <a:gd name="adj" fmla="val 4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468879"/>
            <a:ext cx="27889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var selectedContact =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contactListView.SelectedItem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as Contact;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434840"/>
            <a:ext cx="31546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선택 없으면 안내 → Yes/No 확인 → Remove() 후 전체 목록 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463040"/>
            <a:ext cx="3611880" cy="4572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66760" y="1691640"/>
            <a:ext cx="411480" cy="411480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1664208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2A33"/>
                </a:solidFill>
                <a:latin typeface="맑은 고딕"/>
                <a:ea typeface="맑은 고딕"/>
              </a:rPr>
              <a:t>전시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2331720"/>
            <a:ext cx="3154680" cy="1920240"/>
          </a:xfrm>
          <a:prstGeom prst="roundRect">
            <a:avLst>
              <a:gd name="adj" fmla="val 4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468879"/>
            <a:ext cx="27889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contactListView.ItemsSource =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phoneBookManager.ContactList;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{Binding Name}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434840"/>
            <a:ext cx="31546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GridViewColumn이 Contact의 Name / PhoneNumber 속성을 바인딩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관련 지식 (예상 질문)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코드와 함께 질문받을 수 있는 배경 지식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01 전화번호부  |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618488"/>
            <a:ext cx="384048" cy="384048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81912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ObservableCollection?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6712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INotifyCollectionChanged를 구현한 컬렉션. 추가/삭제 시 이벤트를 발생시켜 바인딩된 UI가 자동 갱신된다. List&lt;T&gt;는 알림이 없어 수동 갱신 필요.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44568" y="1618488"/>
            <a:ext cx="384048" cy="384048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581912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데이터 바인딩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6712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{Binding Name} : 객체의 속성 값을 UI에 연결. 필드는 바인딩 불가 → Contact를 { get; set; } 속성으로 선언한 이유.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39328" y="1618488"/>
            <a:ext cx="384048" cy="384048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1581912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정규식 의미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16712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^ 시작, $ 끝, \d 숫자, {2,3} 2~3회 반복, -? 하이픈 0~1회. → 지역번호-국번-번호 4자리 형식.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087368"/>
            <a:ext cx="384048" cy="384048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50791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LINQ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63600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컬렉션 질의 문법. Where(필터), Any(존재 여부), ToList(결과 확정). 람다식 c =&gt; ... 로 조건 전달.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8862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44568" y="4087368"/>
            <a:ext cx="384048" cy="384048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050791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out 매개변수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63600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반환값 외에 추가 결과를 돌려줄 때 사용. 메서드 안에서 반드시 값을 할당해야 함. (bool + 오류 메시지)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8862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39328" y="4087368"/>
            <a:ext cx="384048" cy="384048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4050791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as vs (Contact) 캐스팅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463600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as : 변환 실패 시 null 반환 (예외 없음). (Contact) 캐스팅 : 실패 시 InvalidCastException 발생.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동작 확인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시연 시나리오 (샘플 데이터 2건이 미리 등록된 상태로 시작)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01 전화번호부  | 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993392" cy="43891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1536192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전시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1536192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실행 시 홍길동, 김철수 2건 표시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하단에 '전체 2명'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1554480"/>
            <a:ext cx="1993392" cy="43891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44952" y="1783080"/>
            <a:ext cx="502920" cy="502920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468880"/>
            <a:ext cx="1536192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3200400"/>
            <a:ext cx="1536192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이름 · 번호 입력 후 [추가]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형식 오류 · 중복 번호 입력 시 경고창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554480"/>
            <a:ext cx="1993392" cy="43891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12664" y="1783080"/>
            <a:ext cx="502920" cy="502920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2468880"/>
            <a:ext cx="1536192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검색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4" y="3200400"/>
            <a:ext cx="1536192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'010' 또는 '홍' 입력 후 Enter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부분 일치 결과와 건수 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51775" y="1554480"/>
            <a:ext cx="1993392" cy="43891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80375" y="1783080"/>
            <a:ext cx="502920" cy="502920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0375" y="2468880"/>
            <a:ext cx="1536192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삭제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0375" y="3200400"/>
            <a:ext cx="1536192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목록에서 항목 선택 → [선택 삭제]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Yes 선택 시 목록에서 제거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488" y="1554480"/>
            <a:ext cx="1993392" cy="43891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48088" y="1783080"/>
            <a:ext cx="502920" cy="502920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8088" y="2468880"/>
            <a:ext cx="1536192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전체보기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3200400"/>
            <a:ext cx="1536192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[전체보기]로 검색 해제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변경된 전체 목록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