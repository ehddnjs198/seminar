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BMP는 파일 헤더 14바이트, 정보 헤더 40바이트, 그 뒤에 픽셀 데이터가 이어지는 단순한 구조입니다. 24비트는 팔레트가 없어서 헤더 바로 뒤, 54번 오프셋부터 픽셀이 시작됩니다.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" y="1463040"/>
            <a:ext cx="1005840" cy="1005840"/>
          </a:xfrm>
          <a:prstGeom prst="ellipse">
            <a:avLst/>
          </a:prstGeom>
          <a:solidFill>
            <a:srgbClr val="6A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000" b="1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맑은 고딕"/>
                <a:ea typeface="맑은 고딕"/>
              </a:rPr>
              <a:t>BMP 파일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C9D3DB"/>
                </a:solidFill>
                <a:latin typeface="맑은 고딕"/>
                <a:ea typeface="맑은 고딕"/>
              </a:rPr>
              <a:t>실행하면 Red · Green · Blue 단색 .bmp 파일을 바이트 단위로 직접 작성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754880"/>
            <a:ext cx="1450848" cy="457200"/>
          </a:xfrm>
          <a:prstGeom prst="roundRect">
            <a:avLst>
              <a:gd name="adj" fmla="val 50000"/>
            </a:avLst>
          </a:prstGeom>
          <a:solidFill>
            <a:srgbClr val="6A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450848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파일 헤더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2408" y="4754880"/>
            <a:ext cx="1450848" cy="457200"/>
          </a:xfrm>
          <a:prstGeom prst="roundRect">
            <a:avLst>
              <a:gd name="adj" fmla="val 50000"/>
            </a:avLst>
          </a:prstGeom>
          <a:solidFill>
            <a:srgbClr val="6A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02408" y="4754880"/>
            <a:ext cx="1450848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정보 헤더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81856" y="4754880"/>
            <a:ext cx="1393952" cy="457200"/>
          </a:xfrm>
          <a:prstGeom prst="roundRect">
            <a:avLst>
              <a:gd name="adj" fmla="val 50000"/>
            </a:avLst>
          </a:prstGeom>
          <a:solidFill>
            <a:srgbClr val="6A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81856" y="4754880"/>
            <a:ext cx="1393952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BGR 픽셀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4408" y="4754880"/>
            <a:ext cx="1593088" cy="457200"/>
          </a:xfrm>
          <a:prstGeom prst="roundRect">
            <a:avLst>
              <a:gd name="adj" fmla="val 50000"/>
            </a:avLst>
          </a:prstGeom>
          <a:solidFill>
            <a:srgbClr val="6A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4408" y="4754880"/>
            <a:ext cx="1593088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4byte 정렬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C99A3"/>
                </a:solidFill>
                <a:latin typeface="맑은 고딕"/>
                <a:ea typeface="맑은 고딕"/>
              </a:rPr>
              <a:t>무인체계 SW 개발 기초 세미나  ·  C# / WPF (.NET 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프로그램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이미지 라이브러리 없이 BMP 규격대로 헤더와 픽셀을 BinaryWriter로 기록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03 BMP 파일 생성  | 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429000" cy="219456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691640"/>
            <a:ext cx="411480" cy="411480"/>
          </a:xfrm>
          <a:prstGeom prst="ellipse">
            <a:avLst/>
          </a:prstGeom>
          <a:solidFill>
            <a:srgbClr val="6A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664208"/>
            <a:ext cx="2468879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A33"/>
                </a:solidFill>
                <a:latin typeface="맑은 고딕"/>
                <a:ea typeface="맑은 고딕"/>
              </a:rPr>
              <a:t>자동 생성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29718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창이 뜨면(Loaded) 즉시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Red.bmp · Green.bmp · Blue.bmp 3개 생성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463040"/>
            <a:ext cx="3429000" cy="219456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89120" y="1691640"/>
            <a:ext cx="411480" cy="411480"/>
          </a:xfrm>
          <a:prstGeom prst="ellipse">
            <a:avLst/>
          </a:prstGeom>
          <a:solidFill>
            <a:srgbClr val="6A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59" y="1664208"/>
            <a:ext cx="24688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A33"/>
                </a:solidFill>
                <a:latin typeface="맑은 고딕"/>
                <a:ea typeface="맑은 고딕"/>
              </a:rPr>
              <a:t>크기 결정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40280"/>
            <a:ext cx="29718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기본 300 x 200 픽셀 (24bit)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가로/세로 입력 후 [다시 생성] 가능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40480"/>
            <a:ext cx="3429000" cy="219456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4069080"/>
            <a:ext cx="411480" cy="411480"/>
          </a:xfrm>
          <a:prstGeom prst="ellipse">
            <a:avLst/>
          </a:prstGeom>
          <a:solidFill>
            <a:srgbClr val="6A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041648"/>
            <a:ext cx="2468879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A33"/>
                </a:solidFill>
                <a:latin typeface="맑은 고딕"/>
                <a:ea typeface="맑은 고딕"/>
              </a:rPr>
              <a:t>미리보기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17720"/>
            <a:ext cx="29718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생성된 파일을 다시 읽어 Image에 표시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파일 크기(byte)와 저장 경로 안내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3840480"/>
            <a:ext cx="3429000" cy="219456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89120" y="4069080"/>
            <a:ext cx="411480" cy="411480"/>
          </a:xfrm>
          <a:prstGeom prst="ellipse">
            <a:avLst/>
          </a:prstGeom>
          <a:solidFill>
            <a:srgbClr val="6A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59" y="4041648"/>
            <a:ext cx="24688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A33"/>
                </a:solidFill>
                <a:latin typeface="맑은 고딕"/>
                <a:ea typeface="맑은 고딕"/>
              </a:rPr>
              <a:t>폴더 열기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617720"/>
            <a:ext cx="29718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실행 폴더\BmpOutput에 저장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[폴더 열기]로 탐색기에서 확인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1463040"/>
            <a:ext cx="3703320" cy="4572000"/>
          </a:xfrm>
          <a:prstGeom prst="roundRect">
            <a:avLst>
              <a:gd name="adj" fmla="val 8000"/>
            </a:avLst>
          </a:prstGeom>
          <a:solidFill>
            <a:srgbClr val="EF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1645920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A33"/>
                </a:solidFill>
                <a:latin typeface="맑은 고딕"/>
                <a:ea typeface="맑은 고딕"/>
              </a:rPr>
              <a:t>파일 구성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148840"/>
            <a:ext cx="329184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E2A33"/>
                </a:solidFill>
                <a:latin typeface="Consolas"/>
                <a:ea typeface="맑은 고딕"/>
              </a:rPr>
              <a:t>BmpWriter.cs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2441448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0"/>
                </a:solidFill>
                <a:latin typeface="맑은 고딕"/>
                <a:ea typeface="맑은 고딕"/>
              </a:rPr>
              <a:t>BMP 헤더 + 픽셀 데이터 작성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2926080"/>
            <a:ext cx="329184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E2A33"/>
                </a:solidFill>
                <a:latin typeface="Consolas"/>
                <a:ea typeface="맑은 고딕"/>
              </a:rPr>
              <a:t>MainWindow.xaml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3218688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0"/>
                </a:solidFill>
                <a:latin typeface="맑은 고딕"/>
                <a:ea typeface="맑은 고딕"/>
              </a:rPr>
              <a:t>크기 입력 · 미리보기 3칸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3703320"/>
            <a:ext cx="329184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E2A33"/>
                </a:solidFill>
                <a:latin typeface="Consolas"/>
                <a:ea typeface="맑은 고딕"/>
              </a:rPr>
              <a:t>MainWindow.xaml.cs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3995928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0"/>
                </a:solidFill>
                <a:latin typeface="맑은 고딕"/>
                <a:ea typeface="맑은 고딕"/>
              </a:rPr>
              <a:t>생성 호출 · 이미지 로드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480559"/>
            <a:ext cx="329184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E2A33"/>
                </a:solidFill>
                <a:latin typeface="Consolas"/>
                <a:ea typeface="맑은 고딕"/>
              </a:rPr>
              <a:t>App.xaml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73168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0"/>
                </a:solidFill>
                <a:latin typeface="맑은 고딕"/>
                <a:ea typeface="맑은 고딕"/>
              </a:rPr>
              <a:t>프로그램 시작점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BMP 파일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헤더 54 byte + 픽셀 데이터 (24bit, 무압축)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03 BMP 파일 생성  | 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770"/>
                </a:solidFill>
                <a:latin typeface="맑은 고딕"/>
                <a:ea typeface="맑은 고딕"/>
              </a:rPr>
              <a:t>offset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554480"/>
            <a:ext cx="4754880" cy="731520"/>
          </a:xfrm>
          <a:prstGeom prst="roundRect">
            <a:avLst>
              <a:gd name="adj" fmla="val 4000"/>
            </a:avLst>
          </a:prstGeom>
          <a:solidFill>
            <a:srgbClr val="6A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554480"/>
            <a:ext cx="32918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파일 헤더  BITMAPFILEHEADER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554480"/>
            <a:ext cx="13716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</a:rPr>
              <a:t>14 byte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51206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A33"/>
                </a:solidFill>
                <a:latin typeface="맑은 고딕"/>
                <a:ea typeface="맑은 고딕"/>
              </a:rPr>
              <a:t>'BM' 식별자 · 파일 크기 · 픽셀 시작 위치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7744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770"/>
                </a:solidFill>
                <a:latin typeface="맑은 고딕"/>
                <a:ea typeface="맑은 고딕"/>
              </a:rPr>
              <a:t>offset 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2423160"/>
            <a:ext cx="4754880" cy="1097280"/>
          </a:xfrm>
          <a:prstGeom prst="roundRect">
            <a:avLst>
              <a:gd name="adj" fmla="val 4000"/>
            </a:avLst>
          </a:prstGeom>
          <a:solidFill>
            <a:srgbClr val="6A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2423160"/>
            <a:ext cx="3291840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정보 헤더  BITMAPINFOHEADER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423160"/>
            <a:ext cx="1371600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</a:rPr>
              <a:t>40 byte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23160"/>
            <a:ext cx="5120640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A33"/>
                </a:solidFill>
                <a:latin typeface="맑은 고딕"/>
                <a:ea typeface="맑은 고딕"/>
              </a:rPr>
              <a:t>가로 · 세로 · 색 깊이(24) · 압축(0) · 해상도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1188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770"/>
                </a:solidFill>
                <a:latin typeface="맑은 고딕"/>
                <a:ea typeface="맑은 고딕"/>
              </a:rPr>
              <a:t>offset 54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3657600"/>
            <a:ext cx="4754880" cy="1737360"/>
          </a:xfrm>
          <a:prstGeom prst="roundRect">
            <a:avLst>
              <a:gd name="adj" fmla="val 4000"/>
            </a:avLst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3657600"/>
            <a:ext cx="3291840" cy="1737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픽셀 데이터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657600"/>
            <a:ext cx="1371600" cy="1737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</a:rPr>
              <a:t>rowSize x height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657600"/>
            <a:ext cx="5120640" cy="1737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A33"/>
                </a:solidFill>
                <a:latin typeface="맑은 고딕"/>
                <a:ea typeface="맑은 고딕"/>
              </a:rPr>
              <a:t>B G R 순서, 맨 아래 줄부터, 줄마다 4byte 정렬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63040" y="5623560"/>
            <a:ext cx="10149840" cy="548640"/>
          </a:xfrm>
          <a:prstGeom prst="roundRect">
            <a:avLst>
              <a:gd name="adj" fmla="val 8000"/>
            </a:avLst>
          </a:prstGeom>
          <a:solidFill>
            <a:srgbClr val="EF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20" y="5623560"/>
            <a:ext cx="98755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E2A33"/>
                </a:solidFill>
                <a:latin typeface="맑은 고딕"/>
                <a:ea typeface="맑은 고딕"/>
              </a:rPr>
              <a:t>파일 크기 = </a:t>
            </a:r>
            <a:r>
              <a:rPr sz="1400" b="0">
                <a:solidFill>
                  <a:srgbClr val="1E2A33"/>
                </a:solidFill>
                <a:latin typeface="Consolas"/>
                <a:ea typeface="맑은 고딕"/>
              </a:rPr>
              <a:t>54 + rowSize x height</a:t>
            </a:r>
            <a:r>
              <a:rPr sz="1400" b="0">
                <a:solidFill>
                  <a:srgbClr val="1E2A33"/>
                </a:solidFill>
                <a:latin typeface="맑은 고딕"/>
                <a:ea typeface="맑은 고딕"/>
              </a:rPr>
              <a:t>   →   300 x 200 : 54 + 900 x 200 = </a:t>
            </a:r>
            <a:r>
              <a:rPr sz="1400" b="1">
                <a:solidFill>
                  <a:srgbClr val="6A3FA0"/>
                </a:solidFill>
                <a:latin typeface="맑은 고딕"/>
                <a:ea typeface="맑은 고딕"/>
              </a:rPr>
              <a:t>180,054 byte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헤더 필드 상세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BinaryWriter.Write() 순서 = 아래 표의 오프셋 순서 (Little-Endian)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03 BMP 파일 생성  | 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6A3FA0"/>
                </a:solidFill>
                <a:latin typeface="맑은 고딕"/>
                <a:ea typeface="맑은 고딕"/>
              </a:rPr>
              <a:t>파일 헤더 (14 byte)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83080"/>
          <a:ext cx="4937760" cy="2331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1520"/>
                <a:gridCol w="640080"/>
                <a:gridCol w="1463040"/>
                <a:gridCol w="210312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오프셋</a:t>
                      </a:r>
                    </a:p>
                  </a:txBody>
                  <a:tcPr marL="73152" marR="73152" marT="36576" marB="36576" anchor="ctr">
                    <a:solidFill>
                      <a:srgbClr val="6A3F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크기</a:t>
                      </a:r>
                    </a:p>
                  </a:txBody>
                  <a:tcPr marL="73152" marR="73152" marT="36576" marB="36576" anchor="ctr">
                    <a:solidFill>
                      <a:srgbClr val="6A3F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필드</a:t>
                      </a:r>
                    </a:p>
                  </a:txBody>
                  <a:tcPr marL="73152" marR="73152" marT="36576" marB="36576" anchor="ctr">
                    <a:solidFill>
                      <a:srgbClr val="6A3F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기록 값</a:t>
                      </a:r>
                    </a:p>
                  </a:txBody>
                  <a:tcPr marL="73152" marR="73152" marT="36576" marB="36576" anchor="ctr">
                    <a:solidFill>
                      <a:srgbClr val="6A3FA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E2C7A"/>
                          </a:solidFill>
                          <a:latin typeface="Consolas"/>
                          <a:ea typeface="맑은 고딕"/>
                        </a:rPr>
                        <a:t>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bfType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'B', 'M'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E2C7A"/>
                          </a:solidFill>
                          <a:latin typeface="Consolas"/>
                          <a:ea typeface="맑은 고딕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bfSize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fileSize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E2C7A"/>
                          </a:solidFill>
                          <a:latin typeface="Consolas"/>
                          <a:ea typeface="맑은 고딕"/>
                        </a:rPr>
                        <a:t>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bfReserved1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E2C7A"/>
                          </a:solidFill>
                          <a:latin typeface="Consolas"/>
                          <a:ea typeface="맑은 고딕"/>
                        </a:rPr>
                        <a:t>8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bfReserved2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E2C7A"/>
                          </a:solidFill>
                          <a:latin typeface="Consolas"/>
                          <a:ea typeface="맑은 고딕"/>
                        </a:rPr>
                        <a:t>10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bfOffBits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pixelOffset (54)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343400"/>
            <a:ext cx="4937760" cy="178308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434840"/>
            <a:ext cx="457200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A3FA0"/>
                </a:solidFill>
                <a:latin typeface="맑은 고딕"/>
                <a:ea typeface="맑은 고딕"/>
              </a:rPr>
              <a:t>Little-Endian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하위 바이트를 먼저 저장하는 방식 (x86 / BMP 규격)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54 → </a:t>
            </a:r>
            <a:r>
              <a:rPr sz="1300" b="1">
                <a:solidFill>
                  <a:srgbClr val="1E2A33"/>
                </a:solidFill>
                <a:latin typeface="Consolas"/>
                <a:ea typeface="맑은 고딕"/>
              </a:rPr>
              <a:t>36 00 00 00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BinaryWriter가 자동으로 이 순서로 기록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371600"/>
            <a:ext cx="5669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6A3FA0"/>
                </a:solidFill>
                <a:latin typeface="맑은 고딕"/>
                <a:ea typeface="맑은 고딕"/>
              </a:rPr>
              <a:t>정보 헤더 (40 byte)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0" y="1783080"/>
          <a:ext cx="5669280" cy="4434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1520"/>
                <a:gridCol w="640080"/>
                <a:gridCol w="1783080"/>
                <a:gridCol w="251460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오프셋</a:t>
                      </a:r>
                    </a:p>
                  </a:txBody>
                  <a:tcPr marL="73152" marR="73152" marT="36576" marB="36576" anchor="ctr">
                    <a:solidFill>
                      <a:srgbClr val="6A3F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크기</a:t>
                      </a:r>
                    </a:p>
                  </a:txBody>
                  <a:tcPr marL="73152" marR="73152" marT="36576" marB="36576" anchor="ctr">
                    <a:solidFill>
                      <a:srgbClr val="6A3F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필드</a:t>
                      </a:r>
                    </a:p>
                  </a:txBody>
                  <a:tcPr marL="73152" marR="73152" marT="36576" marB="36576" anchor="ctr">
                    <a:solidFill>
                      <a:srgbClr val="6A3F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기록 값</a:t>
                      </a:r>
                    </a:p>
                  </a:txBody>
                  <a:tcPr marL="73152" marR="73152" marT="36576" marB="36576" anchor="ctr">
                    <a:solidFill>
                      <a:srgbClr val="6A3FA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E2C7A"/>
                          </a:solidFill>
                          <a:latin typeface="Consolas"/>
                          <a:ea typeface="맑은 고딕"/>
                        </a:rPr>
                        <a:t>14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biSize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infoHeaderSize (40)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E2C7A"/>
                          </a:solidFill>
                          <a:latin typeface="Consolas"/>
                          <a:ea typeface="맑은 고딕"/>
                        </a:rPr>
                        <a:t>18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biWidth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width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E2C7A"/>
                          </a:solidFill>
                          <a:latin typeface="Consolas"/>
                          <a:ea typeface="맑은 고딕"/>
                        </a:rPr>
                        <a:t>22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biHeight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height (양수 = 아래→위)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E2C7A"/>
                          </a:solidFill>
                          <a:latin typeface="Consolas"/>
                          <a:ea typeface="맑은 고딕"/>
                        </a:rPr>
                        <a:t>26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biPlanes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1 (고정)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E2C7A"/>
                          </a:solidFill>
                          <a:latin typeface="Consolas"/>
                          <a:ea typeface="맑은 고딕"/>
                        </a:rPr>
                        <a:t>28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biBitCount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bitsPerPixel (24)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E2C7A"/>
                          </a:solidFill>
                          <a:latin typeface="Consolas"/>
                          <a:ea typeface="맑은 고딕"/>
                        </a:rPr>
                        <a:t>30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biCompression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0 = BI_RGB (무압축)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E2C7A"/>
                          </a:solidFill>
                          <a:latin typeface="Consolas"/>
                          <a:ea typeface="맑은 고딕"/>
                        </a:rPr>
                        <a:t>34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biSizeImage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imageSize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E2C7A"/>
                          </a:solidFill>
                          <a:latin typeface="Consolas"/>
                          <a:ea typeface="맑은 고딕"/>
                        </a:rPr>
                        <a:t>38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biXPelsPerMeter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pixelsPerMeter (3780)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E2C7A"/>
                          </a:solidFill>
                          <a:latin typeface="Consolas"/>
                          <a:ea typeface="맑은 고딕"/>
                        </a:rPr>
                        <a:t>42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biYPelsPerMeter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pixelsPerMeter (3780)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E2C7A"/>
                          </a:solidFill>
                          <a:latin typeface="Consolas"/>
                          <a:ea typeface="맑은 고딕"/>
                        </a:rPr>
                        <a:t>46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biClrUsed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0 (팔레트 없음)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E2C7A"/>
                          </a:solidFill>
                          <a:latin typeface="Consolas"/>
                          <a:ea typeface="맑은 고딕"/>
                        </a:rPr>
                        <a:t>50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biClrImportant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픽셀 데이터 – 한 줄 4byte 정렬 (패딩)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각 줄(Row)의 바이트 수는 반드시 4의 배수 → 모자라면 0으로 채움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03 BMP 파일 생성  | 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669280" cy="822960"/>
          </a:xfrm>
          <a:prstGeom prst="roundRect">
            <a:avLst>
              <a:gd name="adj" fmla="val 4000"/>
            </a:avLst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53035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6EDF3"/>
                </a:solidFill>
                <a:latin typeface="Consolas"/>
                <a:ea typeface="맑은 고딕"/>
              </a:rPr>
              <a:t>int rowSize = (width * 3 + 3) / 4 * 4;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56692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+3 후 정수 나눗셈(/4) → 올림 효과, 다시 x4 → 4의 배수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padding = rowSize - width x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46304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1554480"/>
            <a:ext cx="146304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5B6770"/>
                </a:solidFill>
                <a:latin typeface="맑은 고딕"/>
                <a:ea typeface="맑은 고딕"/>
              </a:rPr>
              <a:t>300 px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1554480"/>
            <a:ext cx="210312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6A3FA0"/>
                </a:solidFill>
                <a:latin typeface="맑은 고딕"/>
                <a:ea typeface="맑은 고딕"/>
              </a:rPr>
              <a:t>900 byte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5559" y="1554480"/>
            <a:ext cx="132588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패딩 0 (900은 4의 배수)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301752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3108960"/>
            <a:ext cx="146304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5B6770"/>
                </a:solidFill>
                <a:latin typeface="맑은 고딕"/>
                <a:ea typeface="맑은 고딕"/>
              </a:rPr>
              <a:t>101 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3108960"/>
            <a:ext cx="210312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6A3FA0"/>
                </a:solidFill>
                <a:latin typeface="맑은 고딕"/>
                <a:ea typeface="맑은 고딕"/>
              </a:rPr>
              <a:t>303 → 304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5559" y="3108960"/>
            <a:ext cx="132588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패딩 1 byte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457200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4663440"/>
            <a:ext cx="146304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5B6770"/>
                </a:solidFill>
                <a:latin typeface="맑은 고딕"/>
                <a:ea typeface="맑은 고딕"/>
              </a:rPr>
              <a:t>3 px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4663440"/>
            <a:ext cx="210312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6A3FA0"/>
                </a:solidFill>
                <a:latin typeface="맑은 고딕"/>
                <a:ea typeface="맑은 고딕"/>
              </a:rPr>
              <a:t>9 → 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5559" y="4663440"/>
            <a:ext cx="132588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패딩 3 byte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429000"/>
            <a:ext cx="5669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E2A33"/>
                </a:solidFill>
                <a:latin typeface="맑은 고딕"/>
                <a:ea typeface="맑은 고딕"/>
              </a:rPr>
              <a:t>예) 가로 3픽셀 빨강 한 줄 = 12 byte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886200"/>
            <a:ext cx="420624" cy="548640"/>
          </a:xfrm>
          <a:prstGeom prst="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886200"/>
            <a:ext cx="42062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Consolas"/>
                <a:ea typeface="맑은 고딕"/>
              </a:rPr>
              <a:t>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3886200"/>
            <a:ext cx="420624" cy="548640"/>
          </a:xfrm>
          <a:prstGeom prst="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3886200"/>
            <a:ext cx="42062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Consolas"/>
                <a:ea typeface="맑은 고딕"/>
              </a:rPr>
              <a:t>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63040" y="3886200"/>
            <a:ext cx="420624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63040" y="3886200"/>
            <a:ext cx="42062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Consolas"/>
                <a:ea typeface="맑은 고딕"/>
              </a:rPr>
              <a:t>FF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20240" y="3886200"/>
            <a:ext cx="420624" cy="548640"/>
          </a:xfrm>
          <a:prstGeom prst="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20240" y="3886200"/>
            <a:ext cx="42062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Consolas"/>
                <a:ea typeface="맑은 고딕"/>
              </a:rPr>
              <a:t>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77440" y="3886200"/>
            <a:ext cx="420624" cy="548640"/>
          </a:xfrm>
          <a:prstGeom prst="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77440" y="3886200"/>
            <a:ext cx="42062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Consolas"/>
                <a:ea typeface="맑은 고딕"/>
              </a:rPr>
              <a:t>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4640" y="3886200"/>
            <a:ext cx="420624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34640" y="3886200"/>
            <a:ext cx="42062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Consolas"/>
                <a:ea typeface="맑은 고딕"/>
              </a:rPr>
              <a:t>FF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40" y="3886200"/>
            <a:ext cx="420624" cy="548640"/>
          </a:xfrm>
          <a:prstGeom prst="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91840" y="3886200"/>
            <a:ext cx="42062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Consolas"/>
                <a:ea typeface="맑은 고딕"/>
              </a:rPr>
              <a:t>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49039" y="3886200"/>
            <a:ext cx="420624" cy="548640"/>
          </a:xfrm>
          <a:prstGeom prst="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39" y="3886200"/>
            <a:ext cx="42062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Consolas"/>
                <a:ea typeface="맑은 고딕"/>
              </a:rPr>
              <a:t>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6240" y="3886200"/>
            <a:ext cx="420624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0" y="3886200"/>
            <a:ext cx="42062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Consolas"/>
                <a:ea typeface="맑은 고딕"/>
              </a:rPr>
              <a:t>FF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63440" y="3886200"/>
            <a:ext cx="420624" cy="548640"/>
          </a:xfrm>
          <a:prstGeom prst="rect">
            <a:avLst/>
          </a:prstGeom>
          <a:solidFill>
            <a:srgbClr val="AAB4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63440" y="3886200"/>
            <a:ext cx="42062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Consolas"/>
                <a:ea typeface="맑은 고딕"/>
              </a:rPr>
              <a:t>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20640" y="3886200"/>
            <a:ext cx="420624" cy="548640"/>
          </a:xfrm>
          <a:prstGeom prst="rect">
            <a:avLst/>
          </a:prstGeom>
          <a:solidFill>
            <a:srgbClr val="AAB4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20640" y="3886200"/>
            <a:ext cx="42062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Consolas"/>
                <a:ea typeface="맑은 고딕"/>
              </a:rPr>
              <a:t>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77840" y="3886200"/>
            <a:ext cx="420624" cy="548640"/>
          </a:xfrm>
          <a:prstGeom prst="rect">
            <a:avLst/>
          </a:prstGeom>
          <a:solidFill>
            <a:srgbClr val="AAB4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77840" y="3886200"/>
            <a:ext cx="42062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Consolas"/>
                <a:ea typeface="맑은 고딕"/>
              </a:rPr>
              <a:t>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4526280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770"/>
                </a:solidFill>
                <a:latin typeface="Consolas"/>
                <a:ea typeface="맑은 고딕"/>
              </a:rPr>
              <a:t>B   G   R  (픽셀 1개 = 3 byte)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4526280"/>
            <a:ext cx="14630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B6770"/>
                </a:solidFill>
                <a:latin typeface="맑은 고딕"/>
                <a:ea typeface="맑은 고딕"/>
              </a:rPr>
              <a:t>패딩 3 byte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5074920"/>
            <a:ext cx="5669280" cy="1051560"/>
          </a:xfrm>
          <a:prstGeom prst="roundRect">
            <a:avLst>
              <a:gd name="adj" fmla="val 8000"/>
            </a:avLst>
          </a:prstGeom>
          <a:solidFill>
            <a:srgbClr val="EF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5120640"/>
            <a:ext cx="5303520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이유 : CPU가 4byte(32bit) 단위로 메모리를 읽을 때 효율적이도록 줄 시작 주소를 정렬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구현 시 주의한 규칙 3가지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규격과 다르게 쓰면 색이 바뀌거나 이미지가 뒤집혀 보임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03 BMP 파일 생성  | 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611880" cy="448056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691640"/>
            <a:ext cx="411480" cy="411480"/>
          </a:xfrm>
          <a:prstGeom prst="ellipse">
            <a:avLst/>
          </a:prstGeom>
          <a:solidFill>
            <a:srgbClr val="6A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664208"/>
            <a:ext cx="2651759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A33"/>
                </a:solidFill>
                <a:latin typeface="맑은 고딕"/>
                <a:ea typeface="맑은 고딕"/>
              </a:rPr>
              <a:t>BGR 순서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315468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픽셀 1개 = Blue, Green, Red 순서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rowData[x*3]=blue, [x*3+1]=green, [x*3+2]=red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RGB로 쓰면 빨강 ↔ 파랑이 바뀜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63040"/>
            <a:ext cx="3611880" cy="448056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0" y="1691640"/>
            <a:ext cx="411480" cy="411480"/>
          </a:xfrm>
          <a:prstGeom prst="ellipse">
            <a:avLst/>
          </a:prstGeom>
          <a:solidFill>
            <a:srgbClr val="6A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664208"/>
            <a:ext cx="2651759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A33"/>
                </a:solidFill>
                <a:latin typeface="맑은 고딕"/>
                <a:ea typeface="맑은 고딕"/>
              </a:rPr>
              <a:t>Bottom-Up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40280"/>
            <a:ext cx="315468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biHeight가 양수 → 맨 아래 줄부터 저장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음수로 쓰면 Top-Down (위 → 아래)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단색이라 결과는 같지만 규칙 이해 필요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63040"/>
            <a:ext cx="3611880" cy="448056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66760" y="1691640"/>
            <a:ext cx="411480" cy="411480"/>
          </a:xfrm>
          <a:prstGeom prst="ellipse">
            <a:avLst/>
          </a:prstGeom>
          <a:solidFill>
            <a:srgbClr val="6A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1664208"/>
            <a:ext cx="26517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A33"/>
                </a:solidFill>
                <a:latin typeface="맑은 고딕"/>
                <a:ea typeface="맑은 고딕"/>
              </a:rPr>
              <a:t>using 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240280"/>
            <a:ext cx="315468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BinaryWriter는 IDisposable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블록이 끝나면 자동 Close → 파일 잠금 해제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미리보기는 CacheOption.OnLoad로 즉시 닫음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코드 : BmpWriter.Save()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헤더 작성 후 한 줄(rowData)을 만들어 height번 반복 기록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03 BMP 파일 생성  | 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6766560" cy="4572000"/>
          </a:xfrm>
          <a:prstGeom prst="roundRect">
            <a:avLst>
              <a:gd name="adj" fmla="val 4000"/>
            </a:avLst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6400800" cy="4297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nsolas"/>
                <a:ea typeface="맑은 고딕"/>
              </a:rPr>
              <a:t>int rowSize = (width * 3 + 3) / 4 * 4;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nsolas"/>
                <a:ea typeface="맑은 고딕"/>
              </a:rPr>
              <a:t>int imageSize = rowSize * height;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nsolas"/>
                <a:ea typeface="맑은 고딕"/>
              </a:rPr>
              <a:t>int pixelOffset = fileHeaderSize + infoHeaderSize; // 54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nsolas"/>
                <a:ea typeface="맑은 고딕"/>
              </a:rPr>
              <a:t>int fileSize = pixelOffset + imageSize;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nsolas"/>
                <a:ea typeface="맑은 고딕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nsolas"/>
                <a:ea typeface="맑은 고딕"/>
              </a:rPr>
              <a:t>using (BinaryWriter writer = new BinaryWriter(...))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nsolas"/>
                <a:ea typeface="맑은 고딕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nsolas"/>
                <a:ea typeface="맑은 고딕"/>
              </a:rPr>
              <a:t>    writer.Write((byte)'B'); writer.Write((byte)'M');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nsolas"/>
                <a:ea typeface="맑은 고딕"/>
              </a:rPr>
              <a:t>    writer.Write(fileSize);  ...   // 헤더 54 byte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nsolas"/>
                <a:ea typeface="맑은 고딕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nsolas"/>
                <a:ea typeface="맑은 고딕"/>
              </a:rPr>
              <a:t>    byte[] rowData = new byte[rowSize]; // 패딩 = 0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nsolas"/>
                <a:ea typeface="맑은 고딕"/>
              </a:rPr>
              <a:t>    for (int x = 0; x &lt; width; x++)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nsolas"/>
                <a:ea typeface="맑은 고딕"/>
              </a:rPr>
              <a:t>    {   rowData[x * 3] = blue; ... }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nsolas"/>
                <a:ea typeface="맑은 고딕"/>
              </a:rPr>
              <a:t>    for (int y = 0; y &lt; height; y++)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nsolas"/>
                <a:ea typeface="맑은 고딕"/>
              </a:rPr>
              <a:t>        writer.Write(rowData);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46304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600200"/>
            <a:ext cx="3657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6A3FA0"/>
                </a:solidFill>
                <a:latin typeface="맑은 고딕"/>
                <a:ea typeface="맑은 고딕"/>
              </a:rPr>
              <a:t>매직 넘버 제거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029968"/>
            <a:ext cx="3657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14, 40, 24 같은 숫자를 의미 있는 상수 이름으로 선언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301752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3154679"/>
            <a:ext cx="3657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6A3FA0"/>
                </a:solidFill>
                <a:latin typeface="맑은 고딕"/>
                <a:ea typeface="맑은 고딕"/>
              </a:rPr>
              <a:t>한 줄만 생성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584448"/>
            <a:ext cx="3657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단색이므로 rowData 하나를 만들어 재사용 → 반복 계산 최소화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457200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4709160"/>
            <a:ext cx="3657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6A3FA0"/>
                </a:solidFill>
                <a:latin typeface="맑은 고딕"/>
                <a:ea typeface="맑은 고딕"/>
              </a:rPr>
              <a:t>Write 오버로드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5138928"/>
            <a:ext cx="3657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int → 4byte, short → 2byte, byte → 1byte로 기록됨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관련 지식 (예상 질문)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코드와 함께 질문받을 수 있는 배경 지식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03 BMP 파일 생성  | 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618488"/>
            <a:ext cx="384048" cy="384048"/>
          </a:xfrm>
          <a:prstGeom prst="ellipse">
            <a:avLst/>
          </a:prstGeom>
          <a:solidFill>
            <a:srgbClr val="6A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81912"/>
            <a:ext cx="27889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2A33"/>
                </a:solidFill>
                <a:latin typeface="맑은 고딕"/>
                <a:ea typeface="맑은 고딕"/>
              </a:rPr>
              <a:t>왜 24bit에는 팔레트가 없나?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167128"/>
            <a:ext cx="32461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8bit 이하는 색상표(팔레트) 번호를 저장. 24bit는 픽셀마다 R,G,B 값을 직접 저장하므로 팔레트가 필요 없음.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44568" y="1618488"/>
            <a:ext cx="384048" cy="384048"/>
          </a:xfrm>
          <a:prstGeom prst="ellipse">
            <a:avLst/>
          </a:prstGeom>
          <a:solidFill>
            <a:srgbClr val="6A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581912"/>
            <a:ext cx="27889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2A33"/>
                </a:solidFill>
                <a:latin typeface="맑은 고딕"/>
                <a:ea typeface="맑은 고딕"/>
              </a:rPr>
              <a:t>24bit vs 32bit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167128"/>
            <a:ext cx="32461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32bit는 BGRA로 Alpha(투명도) 1byte 추가. 32bit는 항상 4의 배수라 패딩이 생기지 않음.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1732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39328" y="1618488"/>
            <a:ext cx="384048" cy="384048"/>
          </a:xfrm>
          <a:prstGeom prst="ellipse">
            <a:avLst/>
          </a:prstGeom>
          <a:solidFill>
            <a:srgbClr val="6A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1581912"/>
            <a:ext cx="27889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2A33"/>
                </a:solidFill>
                <a:latin typeface="맑은 고딕"/>
                <a:ea typeface="맑은 고딕"/>
              </a:rPr>
              <a:t>엔디언(Endian)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167128"/>
            <a:ext cx="32461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Little-Endian : 하위 바이트 먼저 (Intel CPU, BMP). Big-Endian : 상위 바이트 먼저 (네트워크 바이트 순서).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4087368"/>
            <a:ext cx="384048" cy="384048"/>
          </a:xfrm>
          <a:prstGeom prst="ellipse">
            <a:avLst/>
          </a:prstGeom>
          <a:solidFill>
            <a:srgbClr val="6A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050791"/>
            <a:ext cx="27889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2A33"/>
                </a:solidFill>
                <a:latin typeface="맑은 고딕"/>
                <a:ea typeface="맑은 고딕"/>
              </a:rPr>
              <a:t>파일 크기 계산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636008"/>
            <a:ext cx="32461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54 + rowSize x height. 300x200 → 54 + 900x200 = 180,054 byte. 무압축이라 크기가 정확히 예측됨.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88620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44568" y="4087368"/>
            <a:ext cx="384048" cy="384048"/>
          </a:xfrm>
          <a:prstGeom prst="ellipse">
            <a:avLst/>
          </a:prstGeom>
          <a:solidFill>
            <a:srgbClr val="6A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050791"/>
            <a:ext cx="27889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2A33"/>
                </a:solidFill>
                <a:latin typeface="맑은 고딕"/>
                <a:ea typeface="맑은 고딕"/>
              </a:rPr>
              <a:t>pixelsPerMeter 3780?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4636008"/>
            <a:ext cx="32461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96 DPI ÷ 0.0254 m ≒ 3780 px/m. 인쇄 해상도 정보일 뿐 화면 표시에는 영향 없음.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88620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39328" y="4087368"/>
            <a:ext cx="384048" cy="384048"/>
          </a:xfrm>
          <a:prstGeom prst="ellipse">
            <a:avLst/>
          </a:prstGeom>
          <a:solidFill>
            <a:srgbClr val="6A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4050791"/>
            <a:ext cx="27889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2A33"/>
                </a:solidFill>
                <a:latin typeface="맑은 고딕"/>
                <a:ea typeface="맑은 고딕"/>
              </a:rPr>
              <a:t>CacheOption.OnLoad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8" y="4636008"/>
            <a:ext cx="32461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E2A33"/>
                </a:solidFill>
                <a:latin typeface="맑은 고딕"/>
                <a:ea typeface="맑은 고딕"/>
              </a:rPr>
              <a:t>기본값은 파일을 열어둔 채 지연 로딩 → 같은 파일을 다시 쓰면 '사용 중' 오류. OnLoad는 다 읽고 즉시 닫음.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변수 명명 규칙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모든 변수는 camelCase · C# 표준 규칙과 함께 적용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03 BMP 파일 생성  | 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611880" cy="466344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4592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6A3FA0"/>
                </a:solidFill>
                <a:latin typeface="맑은 고딕"/>
                <a:ea typeface="맑은 고딕"/>
              </a:rPr>
              <a:t>camelCase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14884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0"/>
                </a:solidFill>
                <a:latin typeface="맑은 고딕"/>
                <a:ea typeface="맑은 고딕"/>
              </a:rPr>
              <a:t>변수 · 필드 · 상수 · 매개변수 · 컨트롤 이름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743200"/>
            <a:ext cx="310896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· 첫 단어 소문자, 이후 단어 첫 글자만 대문자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· 약어 대신 의미가 드러나는 완전한 단어 사용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· bool은 is / has 접두어 → if문이 문장처럼 읽힘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709160"/>
            <a:ext cx="3154680" cy="1234440"/>
          </a:xfrm>
          <a:prstGeom prst="roundRect">
            <a:avLst>
              <a:gd name="adj" fmla="val 6000"/>
            </a:avLst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800600"/>
            <a:ext cx="2880360" cy="1051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rowSize / imageSize
pixelOffset
fileHeaderSize
outputFolder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63040"/>
            <a:ext cx="3611880" cy="466344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64592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6A3FA0"/>
                </a:solidFill>
                <a:latin typeface="맑은 고딕"/>
                <a:ea typeface="맑은 고딕"/>
              </a:rPr>
              <a:t>PascalCase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14884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0"/>
                </a:solidFill>
                <a:latin typeface="맑은 고딕"/>
                <a:ea typeface="맑은 고딕"/>
              </a:rPr>
              <a:t>클래스 · 메서드 · 속성 · 이벤트 (변수 아님)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743200"/>
            <a:ext cx="310896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· C# 공식 명명 규칙(Microsoft 가이드)을 따름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· 변수(camelCase)와 한눈에 구분됨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· 속성은 XAML 바인딩 대상이라 PascalCase 유지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4709160"/>
            <a:ext cx="3154680" cy="1234440"/>
          </a:xfrm>
          <a:prstGeom prst="roundRect">
            <a:avLst>
              <a:gd name="adj" fmla="val 6000"/>
            </a:avLst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4800600"/>
            <a:ext cx="2880360" cy="1051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static class BmpWriter
Save()
CreateAllBmp()
LoadImage()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463040"/>
            <a:ext cx="3611880" cy="466344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64592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6A3FA0"/>
                </a:solidFill>
                <a:latin typeface="맑은 고딕"/>
                <a:ea typeface="맑은 고딕"/>
              </a:rPr>
              <a:t>컨트롤 접미어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14884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770"/>
                </a:solidFill>
                <a:latin typeface="맑은 고딕"/>
                <a:ea typeface="맑은 고딕"/>
              </a:rPr>
              <a:t>XAML x:Name (화면 컨트롤 변수)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743200"/>
            <a:ext cx="310896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· 의미 + 컨트롤 종류 순서로 이름 작성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· 코드에서 이름만 보고 타입을 알 수 있음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· 예: TextBox / Button / ListBox / ComboBox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66760" y="4709160"/>
            <a:ext cx="3154680" cy="1234440"/>
          </a:xfrm>
          <a:prstGeom prst="roundRect">
            <a:avLst>
              <a:gd name="adj" fmla="val 6000"/>
            </a:avLst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4800600"/>
            <a:ext cx="2880360" cy="1051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E6EDF3"/>
                </a:solidFill>
                <a:latin typeface="Consolas"/>
                <a:ea typeface="맑은 고딕"/>
              </a:rPr>
              <a:t>widthTextBox
createButton
redImage
statusTextBlock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선언 변수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선언한 변수 전체 목록 (1/3)  ·  모두 camelCase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03 BMP 파일 생성  |  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64240" cy="3703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400"/>
                <a:gridCol w="1691640"/>
                <a:gridCol w="1920240"/>
                <a:gridCol w="2468880"/>
                <a:gridCol w="292608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변수명</a:t>
                      </a:r>
                    </a:p>
                  </a:txBody>
                  <a:tcPr marL="73152" marR="73152" marT="36576" marB="36576" anchor="ctr">
                    <a:solidFill>
                      <a:srgbClr val="6A3F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타입</a:t>
                      </a:r>
                    </a:p>
                  </a:txBody>
                  <a:tcPr marL="73152" marR="73152" marT="36576" marB="36576" anchor="ctr">
                    <a:solidFill>
                      <a:srgbClr val="6A3F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 · 위치</a:t>
                      </a:r>
                    </a:p>
                  </a:txBody>
                  <a:tcPr marL="73152" marR="73152" marT="36576" marB="36576" anchor="ctr">
                    <a:solidFill>
                      <a:srgbClr val="6A3F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</a:p>
                  </a:txBody>
                  <a:tcPr marL="73152" marR="73152" marT="36576" marB="36576" anchor="ctr">
                    <a:solidFill>
                      <a:srgbClr val="6A3F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이렇게 지은 이유</a:t>
                      </a:r>
                    </a:p>
                  </a:txBody>
                  <a:tcPr marL="73152" marR="73152" marT="36576" marB="36576" anchor="ctr">
                    <a:solidFill>
                      <a:srgbClr val="6A3FA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E2C7A"/>
                          </a:solidFill>
                          <a:latin typeface="Consolas"/>
                          <a:ea typeface="맑은 고딕"/>
                        </a:rPr>
                        <a:t>fileHeaderSize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const int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상수 · BmpWriter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파일 헤더 크기 (14)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규격 이름(File Header) + Size → 숫자 14 대신 의미로 표기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E2C7A"/>
                          </a:solidFill>
                          <a:latin typeface="Consolas"/>
                          <a:ea typeface="맑은 고딕"/>
                        </a:rPr>
                        <a:t>infoHeaderSize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const int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상수 · BmpWriter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정보 헤더 크기 (40)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BITMAPINFOHEADER의 Info + Size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E2C7A"/>
                          </a:solidFill>
                          <a:latin typeface="Consolas"/>
                          <a:ea typeface="맑은 고딕"/>
                        </a:rPr>
                        <a:t>bitsPerPixel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const short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상수 · BmpWriter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픽셀당 비트 수 (24)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규격 필드 biBitCount의 의미를 풀어 씀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E2C7A"/>
                          </a:solidFill>
                          <a:latin typeface="Consolas"/>
                          <a:ea typeface="맑은 고딕"/>
                        </a:rPr>
                        <a:t>pixelsPerMeter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const int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상수 · BmpWriter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해상도 (3780 px/m ≒ 96 DPI)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규격 필드(biXPelsPerMeter)의 단위까지 포함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E2C7A"/>
                          </a:solidFill>
                          <a:latin typeface="Consolas"/>
                          <a:ea typeface="맑은 고딕"/>
                        </a:rPr>
                        <a:t>filePath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string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매개변수 · Save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저장할 파일 전체 경로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fileName이 아닌 Path → 폴더까지 포함된 경로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E2C7A"/>
                          </a:solidFill>
                          <a:latin typeface="Consolas"/>
                          <a:ea typeface="맑은 고딕"/>
                        </a:rPr>
                        <a:t>width / height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int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매개변수 · Save / 지역 · 버튼 이벤트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이미지 가로 / 세로 픽셀 수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이미지 크기 표준 용어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선언 변수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선언한 변수 전체 목록 (2/3)  ·  모두 camelCase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03 BMP 파일 생성  |  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64240" cy="3703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400"/>
                <a:gridCol w="1691640"/>
                <a:gridCol w="1920240"/>
                <a:gridCol w="2468880"/>
                <a:gridCol w="292608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변수명</a:t>
                      </a:r>
                    </a:p>
                  </a:txBody>
                  <a:tcPr marL="73152" marR="73152" marT="36576" marB="36576" anchor="ctr">
                    <a:solidFill>
                      <a:srgbClr val="6A3F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타입</a:t>
                      </a:r>
                    </a:p>
                  </a:txBody>
                  <a:tcPr marL="73152" marR="73152" marT="36576" marB="36576" anchor="ctr">
                    <a:solidFill>
                      <a:srgbClr val="6A3F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 · 위치</a:t>
                      </a:r>
                    </a:p>
                  </a:txBody>
                  <a:tcPr marL="73152" marR="73152" marT="36576" marB="36576" anchor="ctr">
                    <a:solidFill>
                      <a:srgbClr val="6A3F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</a:p>
                  </a:txBody>
                  <a:tcPr marL="73152" marR="73152" marT="36576" marB="36576" anchor="ctr">
                    <a:solidFill>
                      <a:srgbClr val="6A3F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이렇게 지은 이유</a:t>
                      </a:r>
                    </a:p>
                  </a:txBody>
                  <a:tcPr marL="73152" marR="73152" marT="36576" marB="36576" anchor="ctr">
                    <a:solidFill>
                      <a:srgbClr val="6A3FA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E2C7A"/>
                          </a:solidFill>
                          <a:latin typeface="Consolas"/>
                          <a:ea typeface="맑은 고딕"/>
                        </a:rPr>
                        <a:t>red / green / blue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byte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매개변수 · Save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채울 색상 값 (0~255)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색 채널 이름 그대로 → BGR 순서 기록 시 실수 방지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E2C7A"/>
                          </a:solidFill>
                          <a:latin typeface="Consolas"/>
                          <a:ea typeface="맑은 고딕"/>
                        </a:rPr>
                        <a:t>rowSize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int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지역 · Save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패딩 포함 한 줄 바이트 수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row(가로 한 줄) + Size → 4배수 정렬된 크기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E2C7A"/>
                          </a:solidFill>
                          <a:latin typeface="Consolas"/>
                          <a:ea typeface="맑은 고딕"/>
                        </a:rPr>
                        <a:t>imageSize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int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지역 · Save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픽셀 데이터 전체 크기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규격 필드 biSizeImage와 같은 의미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E2C7A"/>
                          </a:solidFill>
                          <a:latin typeface="Consolas"/>
                          <a:ea typeface="맑은 고딕"/>
                        </a:rPr>
                        <a:t>pixelOffset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int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지역 · Save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픽셀 데이터 시작 위치 (54)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규격 필드 bfOffBits = 픽셀까지의 offset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E2C7A"/>
                          </a:solidFill>
                          <a:latin typeface="Consolas"/>
                          <a:ea typeface="맑은 고딕"/>
                        </a:rPr>
                        <a:t>fileSize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int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지역 · Save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BMP 파일 전체 크기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규격 필드 bfSize와 같은 의미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E2C7A"/>
                          </a:solidFill>
                          <a:latin typeface="Consolas"/>
                          <a:ea typeface="맑은 고딕"/>
                        </a:rPr>
                        <a:t>writer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BinaryWriter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지역(using) · Save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바이트 단위 파일 기록 객체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BinaryWriter의 역할(쓰는 객체)을 짧게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선언 변수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선언한 변수 전체 목록 (3/3)  ·  모두 camelCase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03 BMP 파일 생성  |  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64240" cy="3703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7400"/>
                <a:gridCol w="1691640"/>
                <a:gridCol w="1920240"/>
                <a:gridCol w="2468880"/>
                <a:gridCol w="292608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변수명</a:t>
                      </a:r>
                    </a:p>
                  </a:txBody>
                  <a:tcPr marL="73152" marR="73152" marT="36576" marB="36576" anchor="ctr">
                    <a:solidFill>
                      <a:srgbClr val="6A3F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타입</a:t>
                      </a:r>
                    </a:p>
                  </a:txBody>
                  <a:tcPr marL="73152" marR="73152" marT="36576" marB="36576" anchor="ctr">
                    <a:solidFill>
                      <a:srgbClr val="6A3F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 · 위치</a:t>
                      </a:r>
                    </a:p>
                  </a:txBody>
                  <a:tcPr marL="73152" marR="73152" marT="36576" marB="36576" anchor="ctr">
                    <a:solidFill>
                      <a:srgbClr val="6A3F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</a:p>
                  </a:txBody>
                  <a:tcPr marL="73152" marR="73152" marT="36576" marB="36576" anchor="ctr">
                    <a:solidFill>
                      <a:srgbClr val="6A3F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이렇게 지은 이유</a:t>
                      </a:r>
                    </a:p>
                  </a:txBody>
                  <a:tcPr marL="73152" marR="73152" marT="36576" marB="36576" anchor="ctr">
                    <a:solidFill>
                      <a:srgbClr val="6A3FA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E2C7A"/>
                          </a:solidFill>
                          <a:latin typeface="Consolas"/>
                          <a:ea typeface="맑은 고딕"/>
                        </a:rPr>
                        <a:t>rowData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byte[]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지역 · Save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한 줄 분량의 BGR 픽셀 값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row의 실제 data → rowSize와 짝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E2C7A"/>
                          </a:solidFill>
                          <a:latin typeface="Consolas"/>
                          <a:ea typeface="맑은 고딕"/>
                        </a:rPr>
                        <a:t>x / y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int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반복 변수 · Save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가로 픽셀 위치 / 세로 줄 번호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좌표축 이름 → 가로 · 세로 반복임을 직관적으로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E2C7A"/>
                          </a:solidFill>
                          <a:latin typeface="Consolas"/>
                          <a:ea typeface="맑은 고딕"/>
                        </a:rPr>
                        <a:t>outputFolder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readonly string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필드 · MainWindow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결과 BMP 저장 폴더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output(결과물) + Folder → 경로 종류 표시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E2C7A"/>
                          </a:solidFill>
                          <a:latin typeface="Consolas"/>
                          <a:ea typeface="맑은 고딕"/>
                        </a:rPr>
                        <a:t>redPath / greenPath / bluePath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string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지역 · CreateAllBmp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색상별 파일 경로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색상 + Path → 3개 파일을 구분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E2C7A"/>
                          </a:solidFill>
                          <a:latin typeface="Consolas"/>
                          <a:ea typeface="맑은 고딕"/>
                        </a:rPr>
                        <a:t>fileLength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long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지역 · CreateAllBmp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생성된 파일 크기 (byte)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FileInfo.Length 속성과 같은 단어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E2C7A"/>
                          </a:solidFill>
                          <a:latin typeface="Consolas"/>
                          <a:ea typeface="맑은 고딕"/>
                        </a:rPr>
                        <a:t>bitmapImage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BitmapImage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지역 · LoadImage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화면에 표시할 이미지 객체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클래스명을 camelCase로 그대로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화면 컨트롤 이름 (x:Name)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XAML에서 선언한 컨트롤 변수 · 의미 + 컨트롤 종류 접미어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03 BMP 파일 생성  |  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64240" cy="4069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08960"/>
                <a:gridCol w="1737360"/>
                <a:gridCol w="621792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컨트롤 이름</a:t>
                      </a:r>
                    </a:p>
                  </a:txBody>
                  <a:tcPr marL="73152" marR="73152" marT="36576" marB="36576" anchor="ctr">
                    <a:solidFill>
                      <a:srgbClr val="6A3F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종류</a:t>
                      </a:r>
                    </a:p>
                  </a:txBody>
                  <a:tcPr marL="73152" marR="73152" marT="36576" marB="36576" anchor="ctr">
                    <a:solidFill>
                      <a:srgbClr val="6A3F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용도</a:t>
                      </a:r>
                    </a:p>
                  </a:txBody>
                  <a:tcPr marL="73152" marR="73152" marT="36576" marB="36576" anchor="ctr">
                    <a:solidFill>
                      <a:srgbClr val="6A3FA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E2C7A"/>
                          </a:solidFill>
                          <a:latin typeface="Consolas"/>
                          <a:ea typeface="맑은 고딕"/>
                        </a:rPr>
                        <a:t>widthTextBox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TextBox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가로 픽셀 수 입력 (기본 300)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E2C7A"/>
                          </a:solidFill>
                          <a:latin typeface="Consolas"/>
                          <a:ea typeface="맑은 고딕"/>
                        </a:rPr>
                        <a:t>heightTextBox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TextBox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세로 픽셀 수 입력 (기본 200)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E2C7A"/>
                          </a:solidFill>
                          <a:latin typeface="Consolas"/>
                          <a:ea typeface="맑은 고딕"/>
                        </a:rPr>
                        <a:t>createButton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Button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입력 크기로 3개 파일 다시 생성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E2C7A"/>
                          </a:solidFill>
                          <a:latin typeface="Consolas"/>
                          <a:ea typeface="맑은 고딕"/>
                        </a:rPr>
                        <a:t>openFolderButton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Button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탐색기로 저장 폴더 열기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E2C7A"/>
                          </a:solidFill>
                          <a:latin typeface="Consolas"/>
                          <a:ea typeface="맑은 고딕"/>
                        </a:rPr>
                        <a:t>redImage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Image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Red.bmp 미리보기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E2C7A"/>
                          </a:solidFill>
                          <a:latin typeface="Consolas"/>
                          <a:ea typeface="맑은 고딕"/>
                        </a:rPr>
                        <a:t>greenImage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Image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Green.bmp 미리보기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E2C7A"/>
                          </a:solidFill>
                          <a:latin typeface="Consolas"/>
                          <a:ea typeface="맑은 고딕"/>
                        </a:rPr>
                        <a:t>blueImage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Image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Blue.bmp 미리보기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E2C7A"/>
                          </a:solidFill>
                          <a:latin typeface="Consolas"/>
                          <a:ea typeface="맑은 고딕"/>
                        </a:rPr>
                        <a:t>statusTextBlock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TextBlock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A33"/>
                          </a:solidFill>
                          <a:latin typeface="맑은 고딕"/>
                          <a:ea typeface="맑은 고딕"/>
                        </a:rPr>
                        <a:t>크기 · 파일 용량 · 저장 경로 표시</a:t>
                      </a:r>
                    </a:p>
                  </a:txBody>
                  <a:tcPr marL="73152" marR="73152" marT="36576" marB="36576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A33"/>
                </a:solidFill>
                <a:latin typeface="맑은 고딕"/>
                <a:ea typeface="맑은 고딕"/>
              </a:rPr>
              <a:t>동작 확인 순서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770"/>
                </a:solidFill>
                <a:latin typeface="맑은 고딕"/>
                <a:ea typeface="맑은 고딕"/>
              </a:rPr>
              <a:t>실행만 하면 파일이 생성되는 것이 요구사항의 핵심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맑은 고딕"/>
                <a:ea typeface="맑은 고딕"/>
              </a:rPr>
              <a:t>03 BMP 파일 생성  | 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2560320" cy="438912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6A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210312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A33"/>
                </a:solidFill>
                <a:latin typeface="맑은 고딕"/>
                <a:ea typeface="맑은 고딕"/>
              </a:rPr>
              <a:t>실행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00400"/>
            <a:ext cx="2103120" cy="2651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창이 뜨자마자 3개 파일 자동 생성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미리보기 3칸에 빨강 · 초록 · 파랑 표시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79" y="1554480"/>
            <a:ext cx="2560320" cy="438912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11879" y="1783080"/>
            <a:ext cx="502920" cy="502920"/>
          </a:xfrm>
          <a:prstGeom prst="ellipse">
            <a:avLst/>
          </a:prstGeom>
          <a:solidFill>
            <a:srgbClr val="6A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79" y="2468880"/>
            <a:ext cx="210312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A33"/>
                </a:solidFill>
                <a:latin typeface="맑은 고딕"/>
                <a:ea typeface="맑은 고딕"/>
              </a:rPr>
              <a:t>파일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79" y="3200400"/>
            <a:ext cx="2103120" cy="2651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[폴더 열기] → BmpOutput 폴더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파일 크기 180,054 byte 확인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19" y="1554480"/>
            <a:ext cx="2560320" cy="438912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19" y="1783080"/>
            <a:ext cx="502920" cy="502920"/>
          </a:xfrm>
          <a:prstGeom prst="ellipse">
            <a:avLst/>
          </a:prstGeom>
          <a:solidFill>
            <a:srgbClr val="6A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19" y="2468880"/>
            <a:ext cx="210312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A33"/>
                </a:solidFill>
                <a:latin typeface="맑은 고딕"/>
                <a:ea typeface="맑은 고딕"/>
              </a:rPr>
              <a:t>크기 변경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19" y="3200400"/>
            <a:ext cx="2103120" cy="2651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가로 101, 세로 50 입력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[다시 생성] → 패딩이 생기는 경우 확인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1554480"/>
            <a:ext cx="2560320" cy="438912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81159" y="1783080"/>
            <a:ext cx="502920" cy="502920"/>
          </a:xfrm>
          <a:prstGeom prst="ellipse">
            <a:avLst/>
          </a:prstGeom>
          <a:solidFill>
            <a:srgbClr val="6A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59" y="2468880"/>
            <a:ext cx="210312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A33"/>
                </a:solidFill>
                <a:latin typeface="맑은 고딕"/>
                <a:ea typeface="맑은 고딕"/>
              </a:rPr>
              <a:t>검증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59" y="3200400"/>
            <a:ext cx="2103120" cy="2651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그림판 등 다른 프로그램으로 열기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E2A33"/>
                </a:solidFill>
                <a:latin typeface="맑은 고딕"/>
                <a:ea typeface="맑은 고딕"/>
              </a:rPr>
              <a:t>정상 표시 = 헤더 · 패딩이 규격대로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