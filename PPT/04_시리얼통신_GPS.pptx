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GPS는 보통 1초에 한 번씩 여러 NMEA 문장을 보냅니다. 시리얼 수신 스레드에서 한 줄을 완성하면 Dispatcher로 UI 스레드에 넘기고, 파싱과 좌표 변환 후 화면에 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1463040"/>
            <a:ext cx="1005840" cy="100584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시리얼 통신 GPS 수신기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9D3DB"/>
                </a:solidFill>
                <a:latin typeface="맑은 고딕"/>
                <a:ea typeface="맑은 고딕"/>
              </a:rPr>
              <a:t>USB GPS의 NMEA 데이터를 실시간 파싱하여 WGS84 · UTM 좌표로 전시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754880"/>
            <a:ext cx="1635760" cy="45720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6357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SerialPort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87320" y="4754880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87320" y="4754880"/>
            <a:ext cx="153619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NMEA-0183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2112" y="4754880"/>
            <a:ext cx="1137920" cy="45720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2112" y="4754880"/>
            <a:ext cx="1137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WGS84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8632" y="4754880"/>
            <a:ext cx="938784" cy="45720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18632" y="4754880"/>
            <a:ext cx="938784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UTM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C99A3"/>
                </a:solidFill>
                <a:latin typeface="맑은 고딕"/>
                <a:ea typeface="맑은 고딕"/>
              </a:rPr>
              <a:t>SW 개발 기초 세미나  ·  C# / WPF (.NET 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프로그램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시리얼 수신 → 파싱 → 좌표 변환 → GUI 전시를 클래스별로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64208"/>
            <a:ext cx="246887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시리얼 수신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COM 포트 · Baud Rate 선택 후 연결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바이트를 모아 한 줄(\r\n) 단위로 전달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6304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691640"/>
            <a:ext cx="411480" cy="41148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1664208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NMEA 파싱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GGA(위치 · 고도 · 위성) / RMC(속도)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체크섬(XOR) 검사로 깨진 문장 제외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069080"/>
            <a:ext cx="411480" cy="41148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41648"/>
            <a:ext cx="246887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WGS84 전시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십진수 도 (37.566667°)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도분초 (37° 34' 0.00" 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84048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4069080"/>
            <a:ext cx="411480" cy="41148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4041648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UTM 변환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1772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Zone + Easting / Northing (m)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횡메르카토르 공식 직접 구현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146304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64592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파일 구성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4884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GpsSerialReader.cs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4414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SerialPort 수신 · 줄 단위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92608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NmeaParser.cs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21868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체크섬 · GGA / RMC 해석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70332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CoordinateConverter.cs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99592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DMS · UTM 변환 공식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480559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GpsData.cs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7316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파싱 결과 보관 (Model)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257799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MainWindow.xaml(.cs)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550407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포트 설정 · 좌표 전시 · 원본 로그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데이터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한 줄이 들어올 때마다 아래 순서로 처리되어 텍스트박스가 실시간 갱신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2344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GPS
수신기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325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맑은 고딕"/>
                <a:ea typeface="맑은 고딕"/>
              </a:rPr>
              <a:t>1초마다 NMEA
문장 송신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11095" y="2267712"/>
            <a:ext cx="201168" cy="310896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48839" y="1828800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59" y="1828800"/>
            <a:ext cx="12344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SerialPort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39" y="3154680"/>
            <a:ext cx="1325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맑은 고딕"/>
                <a:ea typeface="맑은 고딕"/>
              </a:rPr>
              <a:t>USB 가상 COM
9600 8N1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11296" y="2267712"/>
            <a:ext cx="201168" cy="310896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49039" y="1828800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1828800"/>
            <a:ext cx="12344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GpsSerial
Reader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154680"/>
            <a:ext cx="1325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맑은 고딕"/>
                <a:ea typeface="맑은 고딕"/>
              </a:rPr>
              <a:t>'\n' 기준
한 줄 조립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11496" y="2267712"/>
            <a:ext cx="201168" cy="310896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49240" y="1828800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1828800"/>
            <a:ext cx="12344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Nmea
Parser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154680"/>
            <a:ext cx="1325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맑은 고딕"/>
                <a:ea typeface="맑은 고딕"/>
              </a:rPr>
              <a:t>체크섬 검사
필드 분리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711696" y="2267712"/>
            <a:ext cx="201168" cy="310896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9440" y="1828800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59" y="1828800"/>
            <a:ext cx="12344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GpsData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154680"/>
            <a:ext cx="1325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맑은 고딕"/>
                <a:ea typeface="맑은 고딕"/>
              </a:rPr>
              <a:t>시간 · 위경도
고도 · 위성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311895" y="2267712"/>
            <a:ext cx="201168" cy="310896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49640" y="1828800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1828800"/>
            <a:ext cx="12344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Coordinate
Converter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154680"/>
            <a:ext cx="1325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맑은 고딕"/>
                <a:ea typeface="맑은 고딕"/>
              </a:rPr>
              <a:t>DMS · UTM
변환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912095" y="2267712"/>
            <a:ext cx="201168" cy="310896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49840" y="1828800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1828800"/>
            <a:ext cx="12344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MainWindow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3154680"/>
            <a:ext cx="1325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맑은 고딕"/>
                <a:ea typeface="맑은 고딕"/>
              </a:rPr>
              <a:t>TextBox
실시간 전시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206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343400"/>
            <a:ext cx="493776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E7D4F"/>
                </a:solidFill>
                <a:latin typeface="맑은 고딕"/>
                <a:ea typeface="맑은 고딕"/>
              </a:rPr>
              <a:t>스레드 전환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DataReceived 이벤트는 별도 스레드에서 실행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→ Dispatcher.BeginInvoke로 UI 스레드에 전달 후 파싱 · 전시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06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343400"/>
            <a:ext cx="493776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E7D4F"/>
                </a:solidFill>
                <a:latin typeface="맑은 고딕"/>
                <a:ea typeface="맑은 고딕"/>
              </a:rPr>
              <a:t>역할 분리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수신 / 파싱 / 변환 클래스는 UI를 전혀 모름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→ GPS 장비나 화면이 바뀌어도 해당 클래스만 수정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시리얼 통신 기초 (UART)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1 byte를 Start bit + 데이터 8bit + Stop bit 순서로 한 비트씩 전송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30352" cy="68580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03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1600200"/>
            <a:ext cx="530352" cy="6858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600200"/>
            <a:ext cx="5303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D0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5" y="1600200"/>
            <a:ext cx="530352" cy="6858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82495" y="1600200"/>
            <a:ext cx="5303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D1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9424" y="1600200"/>
            <a:ext cx="530352" cy="6858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9424" y="1600200"/>
            <a:ext cx="5303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D2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6352" y="1600200"/>
            <a:ext cx="530352" cy="6858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1600200"/>
            <a:ext cx="5303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D3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600200"/>
            <a:ext cx="530352" cy="6858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600200"/>
            <a:ext cx="5303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D4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0207" y="1600200"/>
            <a:ext cx="530352" cy="6858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0207" y="1600200"/>
            <a:ext cx="5303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D5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7136" y="1600200"/>
            <a:ext cx="530352" cy="6858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1600200"/>
            <a:ext cx="5303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D6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4064" y="1600200"/>
            <a:ext cx="530352" cy="6858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1600200"/>
            <a:ext cx="5303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D7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0992" y="1600200"/>
            <a:ext cx="530352" cy="68580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0992" y="1600200"/>
            <a:ext cx="5303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77440"/>
            <a:ext cx="56692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8N1 = 데이터 8bit, 패리티 None, Stop 1bit → 1 byte당 10bit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9600 bps ÷ 10 = 초당 약 960 byte 전송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20040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200400"/>
            <a:ext cx="16459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D4F"/>
                </a:solidFill>
                <a:latin typeface="맑은 고딕"/>
                <a:ea typeface="맑은 고딕"/>
              </a:rPr>
              <a:t>Baud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200400"/>
            <a:ext cx="3749039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초당 전송 비트 수. 송수신 양쪽이 같아야 함 (GPS는 주로 4800 / 9600)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24528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224528"/>
            <a:ext cx="16459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D4F"/>
                </a:solidFill>
                <a:latin typeface="맑은 고딕"/>
                <a:ea typeface="맑은 고딕"/>
              </a:rPr>
              <a:t>비동기 통신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224528"/>
            <a:ext cx="3749039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클럭선 없이 약속된 속도와 Start/Stop 비트로 동기화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248656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248656"/>
            <a:ext cx="16459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D4F"/>
                </a:solidFill>
                <a:latin typeface="맑은 고딕"/>
                <a:ea typeface="맑은 고딕"/>
              </a:rPr>
              <a:t>USB-Serial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5248656"/>
            <a:ext cx="3749039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USB GPS는 드라이버가 가상 COM 포트 생성 → 장치 관리자에서 번호 확인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1600200"/>
            <a:ext cx="5029200" cy="237744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1737360"/>
            <a:ext cx="466344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serialPort = new SerialPort(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portName, baudRate,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Parity.None, 8, StopBits.One);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serialPort.DtrEnable = true;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serialPort.DataReceived += ...;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serialPort.Open();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160520"/>
            <a:ext cx="5029200" cy="1965960"/>
          </a:xfrm>
          <a:prstGeom prst="roundRect">
            <a:avLst>
              <a:gd name="adj" fmla="val 8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4251960"/>
            <a:ext cx="45720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7D4F"/>
                </a:solidFill>
                <a:latin typeface="맑은 고딕"/>
                <a:ea typeface="맑은 고딕"/>
              </a:rPr>
              <a:t>수신 데이터 조립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ReadExisting()은 도착한 만큼만 읽음 → 문장이 중간에 잘려 올 수 있음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receiveBuffer에 이어 붙인 뒤 '\n'마다 잘라 LineReceived 발생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NMEA-0183 문장 구조 (GGA)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'$' 시작 · ',' 구분 · '*' 뒤 2자리 = 체크섬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64240" cy="68580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Consolas"/>
                <a:ea typeface="맑은 고딕"/>
              </a:rPr>
              <a:t>$GPGGA,123519.00,3734.0000,N,12658.6800,E,1,08,0.9,45.0,M,18.0,M,,*5D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6309360" cy="38496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5840"/>
                <a:gridCol w="2011680"/>
                <a:gridCol w="32918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필드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예시 값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의미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[0]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GPGGA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GP = GPS(Talker ID), GGA = 문장 종류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[1]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123519.00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UTC 12:35:19 (한국 = +9시간)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[2] [3]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3734.0000, 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위도 37도 34.0000분, 북위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[4] [5]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12658.6800, 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경도 126도 58.6800분, 동경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[6]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Fix 품질 (0 = 측위 안됨, 1 = GPS, 2 = DGPS)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[7]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08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사용 위성 수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[8]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0.9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HDOP (수평 정밀도 저하율, 작을수록 좋음)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[9]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45.0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해발 고도 (m)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0" y="2286000"/>
            <a:ext cx="4480560" cy="38404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2423160"/>
            <a:ext cx="402336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E7D4F"/>
                </a:solidFill>
                <a:latin typeface="맑은 고딕"/>
                <a:ea typeface="맑은 고딕"/>
              </a:rPr>
              <a:t>체크섬 검사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'$'와 '*' 사이 모든 문자를 XOR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→ 결과가 '*' 뒤 16진수 (5D)와 같으면 정상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다르면 전송 중 손상 → 버림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2E7D4F"/>
                </a:solidFill>
                <a:latin typeface="맑은 고딕"/>
                <a:ea typeface="맑은 고딕"/>
              </a:rPr>
              <a:t>RMC 문장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[2] 상태 A = 유효 / V = 무효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[7] 속도 (knot) x 1.852 = km/h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좌표 변환 ① 도분 → 십진수 도 → 도분초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NMEA 위경도는 ddmm.mmmm (도+분) 형식 → 계산하기 쉬운 십진수 도로 변환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6304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NMEA 원본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46304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도 + 분 /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46304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십진수 도 (DD)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146304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도분초 (DMS)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0972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위도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1874519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39"/>
            <a:ext cx="2011679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3734.0000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39" y="2130552"/>
            <a:ext cx="228600" cy="310896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874519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920239"/>
            <a:ext cx="2011679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37 + 34.0000 / 60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130552"/>
            <a:ext cx="228600" cy="310896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0" y="1874519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920239"/>
            <a:ext cx="2011679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37.566667°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06840" y="2130552"/>
            <a:ext cx="228600" cy="310896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81160" y="1874519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920239"/>
            <a:ext cx="2011679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37° 34' 0.00"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63239"/>
            <a:ext cx="10972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37360" y="3063239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3108959"/>
            <a:ext cx="2011679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12658.6800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977639" y="3319272"/>
            <a:ext cx="228600" cy="310896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51960" y="3063239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108959"/>
            <a:ext cx="2011679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126 + 58.68 / 60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492240" y="3319272"/>
            <a:ext cx="228600" cy="310896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0" y="3063239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108959"/>
            <a:ext cx="2011679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126.978000°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006840" y="3319272"/>
            <a:ext cx="228600" cy="310896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81160" y="3063239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3108959"/>
            <a:ext cx="2011679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126° 58' 40.80" 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34340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43484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7D4F"/>
                </a:solidFill>
                <a:latin typeface="맑은 고딕"/>
                <a:ea typeface="맑은 고딕"/>
              </a:rPr>
              <a:t>도분 → 십진수 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873752"/>
            <a:ext cx="50292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degree = (int)(rawValue / 100)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minute = rawValue - degree x 100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결과 = degree + minute / 60, S·W는 음수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34340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43484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7D4F"/>
                </a:solidFill>
                <a:latin typeface="맑은 고딕"/>
                <a:ea typeface="맑은 고딕"/>
              </a:rPr>
              <a:t>십진수 도 → 도분초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73752"/>
            <a:ext cx="50292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도 = 정수 부분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분 = 소수 부분 x 60 의 정수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초 = 남은 소수 x 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좌표 변환 ② WGS84 → UTM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지구를 경도 6°씩 60개 구역으로 나눠 평면(m 단위)으로 펼친 좌표계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27632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A33"/>
                </a:solidFill>
                <a:latin typeface="맑은 고딕"/>
                <a:ea typeface="맑은 고딕"/>
              </a:rPr>
              <a:t>Zone 번호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2860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(경도 + 180) / 6 + 1
한국 : 51 · 52 구역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645920"/>
            <a:ext cx="411480" cy="41148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627632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A33"/>
                </a:solidFill>
                <a:latin typeface="맑은 고딕"/>
                <a:ea typeface="맑은 고딕"/>
              </a:rPr>
              <a:t>중앙 경선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94560"/>
            <a:ext cx="22860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구역 가운데 경도 (52구역 = 129°E)
축척 계수 k0 = 0.9996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14630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59" y="1645920"/>
            <a:ext cx="411480" cy="41148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1627632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A33"/>
                </a:solidFill>
                <a:latin typeface="맑은 고딕"/>
                <a:ea typeface="맑은 고딕"/>
              </a:rPr>
              <a:t>False Easting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194560"/>
            <a:ext cx="22860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중앙 경선 = 500,000 m
음수 좌표 방지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399" y="14630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98279" y="1645920"/>
            <a:ext cx="411480" cy="41148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9" y="1627632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A33"/>
                </a:solidFill>
                <a:latin typeface="맑은 고딕"/>
                <a:ea typeface="맑은 고딕"/>
              </a:rPr>
              <a:t>밴드 문자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79" y="2194560"/>
            <a:ext cx="22860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위도 8° 간격 C~X
한국(32~40°N) =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11880"/>
            <a:ext cx="36576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검증 결과 (서울 시청 부근)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37.566667°N, 126.978000°E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611880"/>
            <a:ext cx="68580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9BE3B5"/>
                </a:solidFill>
                <a:latin typeface="Consolas"/>
                <a:ea typeface="맑은 고딕"/>
              </a:rPr>
              <a:t>52S   321,424.68 m E   4,159,659.14 m 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· 계산 순서 : 라디안 변환 → 곡률 반경 N · T · C · A 계산 → 자오선 호 길이 M → Easting / Northing (USGS Snyder 공식)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· 남반구는 Northing에 10,000,000 m 가산  ·  시드니(-33.8688, 151.2093) → 56H 334,368.6 E / 6,250,948.3 N 으로 검증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코드 : 파싱과 변환 핵심부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NmeaParser.Parse() · ToDecimalDegree()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852160" cy="457200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486400" cy="4297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// Parse : '$'와 '*' 사이만 잘라 ','로 분리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if (!IsChecksumValid(sentence)) return false;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string[] fields = sentence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.Substring(1, starIndex - 1).Split(',');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string sentenceType = fields[0].Substring(2);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switch (sentenceType)  // GP/GN 무시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case "GGA": return ParseGga(...);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case "RMC": return ParseRmc(...);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4663440" cy="4297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// ddmm.mmmm → 십진수 도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double rawValue = ParseDouble(value);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int degree = (int)(rawValue / 100);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double minute = rawValue - degree * 100;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double decimalDegree =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degree + minute / 60.0;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return (hemisphere == "S" ||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    hemisphere == "W")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? -decimalDegree : decimalDegree;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관련 지식 (예상 질문)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코드와 함께 질문받을 수 있는 배경 지식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81912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WGS84란?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6712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GPS가 사용하는 세계 측지계. 지구를 장반경 6,378,137 m, 편평률 1/298.257223563 타원체로 정의.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44568" y="1618488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81912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UTM을 쓰는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6712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위경도는 각도라 거리 계산이 복잡. UTM은 m 단위 평면 좌표 → 거리 · 방향 계산이 쉬워 경로 계획 · 지도 표시에 유리.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39328" y="1618488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581912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체크섬 XOR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6712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'$'~'*' 사이 문자를 XOR한 1byte 값. 시리얼 잡음으로 깨진 문장을 걸러내 잘못된 위치 표시를 막음.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50791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GP vs 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3600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Talker ID. GP = GPS 단독, GN = GPS + GLONASS 등 복합 GNSS. 파서는 앞 2글자를 무시해 둘 다 처리.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886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44568" y="4087368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050791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Fix · HDOP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63600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Fix 품질 0이면 위치 무효 → 좌표 갱신 안 함. HDOP은 위성 배치에 따른 수평 오차 배율 (1 이하 우수).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886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39328" y="4087368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4050791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InvariantCulture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63600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지역 설정에 따라 소수점이 ','인 PC도 있음. NMEA는 항상 '.' → 문화권 무관하게 파싱.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변수 명명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모든 변수는 camelCase · C# 표준 규칙과 함께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E7D4F"/>
                </a:solidFill>
                <a:latin typeface="맑은 고딕"/>
                <a:ea typeface="맑은 고딕"/>
              </a:rPr>
              <a:t>camelCase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변수 · 필드 · 상수 · 매개변수 · 컨트롤 이름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첫 단어 소문자, 이후 단어 첫 글자만 대문자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약어 대신 의미가 드러나는 완전한 단어 사용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bool은 is / has 접두어 → if문이 문장처럼 읽힘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0916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baudRate / portName
decimalDegree
eccSquared
isLatitude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E7D4F"/>
                </a:solidFill>
                <a:latin typeface="맑은 고딕"/>
                <a:ea typeface="맑은 고딕"/>
              </a:rPr>
              <a:t>PascalCase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클래스 · 메서드 · 속성 · 이벤트 (변수 아님)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43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C# 공식 명명 규칙(Microsoft 가이드)을 따름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변수(camelCase)와 한눈에 구분됨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속성은 XAML 바인딩 대상이라 PascalCase 유지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70916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4800600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class NmeaParser
ToUtm() / ToDms()
GpsData.Latitude
LineReceived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E7D4F"/>
                </a:solidFill>
                <a:latin typeface="맑은 고딕"/>
                <a:ea typeface="맑은 고딕"/>
              </a:rPr>
              <a:t>컨트롤 접미어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XAML x:Name (화면 컨트롤 변수)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의미 + 컨트롤 종류 순서로 이름 작성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코드에서 이름만 보고 타입을 알 수 있음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예: TextBox / Button / ListBox / ComboBox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70916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800600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portComboBox
latitudeDecimalTextBox
eastingTextBox
rawDataListBox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(1/7)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25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serialPort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SerialPort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 · GpsSerialReader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실제 COM 포트 객체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클래스명을 camelCase로 그대로 → 역할이 하나뿐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receiveBuffer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 · GpsSerialReader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'\n' 전까지 미완성 데이터 보관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수신(receive) 데이터를 잠시 담는 buffer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portName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Open / 지역 · 연결 버튼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COM 포트 이름 (COM3 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SerialPort.PortName 속성과 같은 단어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baudRate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Open / 지역 · 연결 버튼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통신 속도 (bps)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시리얼 통신 표준 용어 Baud Rate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newLineIndex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SerialPort_DataReceived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'\n' 문자 위치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찾는 대상(newLine) + Index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line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DataReceived / 매개변수 · OnLineReceived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완성된 NMEA 문장 1줄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LineReceived 이벤트와 같은 단어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knotToKmh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double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NmeaParser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1 knot = 1.852 km/h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A To B 형태 → 단위 변환 계수임을 표시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(2/7)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25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sentence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Parse / IsChecksumValid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NMEA 문장 원본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NMEA 규격에서 한 줄을 sentence라 부름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gpsData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GpsData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Parse 등 / 필드 · MainWindow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파싱 결과 저장 객체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클래스명 camelCase → 어디서나 같은 객체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starIndex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Parse / IsChecksumValid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'*' 문자 위치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찾는 문자(star = *) + Index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fields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string[]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Parse / 매개변수 · ParseGga, ParseRmc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쉼표로 나눈 항목 배열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NMEA 용어 field, 배열이라 복수형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sentenceType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Parse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문장 종류 (GGA, RMC)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sentence의 type → switch 분기 기준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calculatedChecksum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byte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IsChecksumValid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직접 XOR 계산한 값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calculated ↔ received 대비로 비교 대상 구분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checksumText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IsChecksumValid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'*' 뒤 16진수 문자열 2자리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숫자로 바꾸기 전 텍스트 상태임을 표시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(3/7)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25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receivedChecksum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byte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out 지역 · IsChecksumValid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문장에 적혀 온 체크섬 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받은(received) 값 → 계산 값과 비교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반복 변수 · IsChecksumValid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문자 위치 인덱스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C# 반복문 관례 (index)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value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ToDecimalDegree 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변환할 원본 문자열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형식이 정해지지 않은 범용 입력값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hemisphere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ToDecimalDegree / 지역 · ToDms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반구 (N / S / E / W)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지리 용어 '반구' 그대로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rawValue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ToDecimalDegree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ddmm.mmmm 원본 숫자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raw(가공 전) → 변환 전 값임을 표시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degree / minute / second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 / double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ToDecimalDegree, ToDms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도 / 분 / 초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각도 단위 이름 그대로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decimalDegree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ToDecimalDegree / 매개변수 · ToDms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십진수 도 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좌표 형식 이름 Decimal Degree(DD)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(4/7)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25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 / 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out 지역 · ParseDouble, ParseInt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TryParse 변환 결과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함수의 최종 반환값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semiMajorAxis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double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CoordinateConverter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WGS84 장반경 a = 6,378,137 m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측지학 용어 Semi-Major Axis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flattening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double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CoordinateConverter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편평률 f = 1/298.257223563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측지학 용어 Flattening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scaleFactor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double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CoordinateConverter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UTM 축척 계수 k0 = 0.9996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UTM 규격 용어 Scale Factor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falseEasting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double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CoordinateConverter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동향 가산값 500,000 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UTM 규격 용어 False Easting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falseNorthingSouth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double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CoordinateConverter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남반구 북향 가산값 10,000,000 m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False Northing + 적용 조건(South)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zoneLetters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CoordinateConverter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위도 밴드 문자 목록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Zone Letter의 모음 → 복수형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(5/7)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25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isLatitude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bool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ToDms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위도 / 경도 구분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is 접두어 bool → true = 위도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absDegree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ToDms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부호를 뗀 각도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abs(절댓값, Math.Abs) + Degree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totalMinute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ToDms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소수 포함 전체 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정수 minute과 구분하기 위해 total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latitude / longitude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ToUtm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입력 위도 / 경도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좌표 용어 그대로 (lat / lon 약어는 계산용에만)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zoneNumber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ToUtm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UTM 구역 번호 (1~60)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UTM 용어 Zone Number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centralMeridian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ToUtm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구역 중앙 경선 (경도)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측지 용어 Central Meridian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eccSquared / eccPrimeSquared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ToUtm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제1 · 제2 이심률 제곱 (e², e'²)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ecc(eccentricity) + 제곱 표시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(6/7)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25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eccFourth / eccSixth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ToUtm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e⁴, e⁶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이심률의 4제곱 · 6제곱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latRad / lonDiffRad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ToUtm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라디안 위도 / 중앙 경선과의 경도 차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Rad 접미어 → 단위(라디안) 표시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sinLat / cosLat / tanLat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ToUtm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위도의 sin · cos · tan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함수 + 대상 → 반복 계산 방지용 저장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radiusN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ToUtm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묘유선 곡률 반경 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공식 기호 N + radius(반경)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tanSquared / cosTerm / lonTerm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ToUtm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공식의 T, C, A 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한 글자 기호 대신 의미 있는 이름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meridianArc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ToUtm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적도~위도 자오선 호 길이 M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측지 용어 Meridian Arc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easting / northing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double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ToUtm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UTM 동향 / 북향 거리 (m)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UTM 결과 용어 그대로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(7/7)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25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letterIndex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ToUtm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zoneLetters 중 위치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zoneLetters 배열의 Index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maxRawLineCount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MainWindow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원본 로그 최대 줄 수 (200)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max + Raw 로그 + LineCount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gpsReader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GpsSerialReader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 · MainWindow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시리얼 수신 객체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GpsSerialReader를 줄임 (역할 = reader)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portNames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string[]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LoadPortNames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COM 포트 목록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portName의 복수형 → 배열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fixText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UpdateDisplay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측위 상태 문장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Fix 상태를 text로 표현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utmCoordinate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UtmCoordinate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UpdateDisplay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UTM 변환 결과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클래스명 camelCase 그대로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isConnected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bool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SetConnectedUi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연결 상태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is 접두어 bool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화면 컨트롤 이름 (x:Name)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XAML에서 선언한 컨트롤 변수 · 의미 + 컨트롤 종류 접미어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5394960" cy="4526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3160"/>
                <a:gridCol w="1143000"/>
                <a:gridCol w="18288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컨트롤 이름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종류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용도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portComboBox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ComboBox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COM 포트 선택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refreshButton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Button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포트 목록 새로고침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baudRateComboBox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ComboBox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통신 속도 선택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connectButton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Button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포트 열기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disconnectButton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Button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포트 닫기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statusTextBlock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TextBlock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연결 상태 표시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latitudeDecimalTextBox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위도 십진수 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longitudeDecimalTextBox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경도 십진수 도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latitudeDmsTextBox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위도 도분초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417320"/>
          <a:ext cx="5394960" cy="4069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3160"/>
                <a:gridCol w="1143000"/>
                <a:gridCol w="18288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컨트롤 이름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종류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용도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longitudeDmsTextBox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경도 도분초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altitudeTextBox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고도 (m)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utmZoneTextBox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UTM 구역 (52S)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eastingTextBox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UTM Easting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northingTextBox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UTM Northing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utcTimeTextBox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UTC 시간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fixInfoTextBox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Fix / 위성 수 / 속도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C39"/>
                          </a:solidFill>
                          <a:latin typeface="Consolas"/>
                          <a:ea typeface="맑은 고딕"/>
                        </a:rPr>
                        <a:t>rawDataListBox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ListBox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NMEA 원본 로그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동작 확인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GPS 신호는 실내에서 약함 → 창가나 실외에서 시연 권장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04 시리얼 통신 GPS  | 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560320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0312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장치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210312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USB GPS 연결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장치 관리자 → 포트(COM &amp; LPT)에서 COM 번호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1554480"/>
            <a:ext cx="2560320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1879" y="1783080"/>
            <a:ext cx="502920" cy="50292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468880"/>
            <a:ext cx="210312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포트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3200400"/>
            <a:ext cx="210312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[새로고침] → COM 선택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Baud 9600 (안 되면 4800) → [연결]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19" y="1554480"/>
            <a:ext cx="2560320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19" y="1783080"/>
            <a:ext cx="502920" cy="50292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19" y="2468880"/>
            <a:ext cx="210312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원본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19" y="3200400"/>
            <a:ext cx="210312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하단 로그에 $GPGGA, $GPRMC 등 표시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글자가 깨지면 Baud Rate 불일치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554480"/>
            <a:ext cx="2560320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1159" y="1783080"/>
            <a:ext cx="502920" cy="50292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468880"/>
            <a:ext cx="210312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좌표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3200400"/>
            <a:ext cx="210312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Fix 전 : 'No Fix', 좌표 미갱신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Fix 후 : 십진수 · 도분초 · UTM 실시간 갱신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