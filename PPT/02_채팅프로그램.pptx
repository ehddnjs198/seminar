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SocketBase는 추상 클래스로 객체를 직접 만들 수 없고, Open/Send/ReceiveLoop를 자식이 반드시 구현해야 합니다. MainWindow는 SocketBase 타입 변수 하나로 TCP와 UDP를 똑같이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1463040"/>
            <a:ext cx="1005840" cy="100584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맑은 고딕"/>
                <a:ea typeface="맑은 고딕"/>
              </a:rPr>
              <a:t>채팅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9D3DB"/>
                </a:solidFill>
                <a:latin typeface="맑은 고딕"/>
                <a:ea typeface="맑은 고딕"/>
              </a:rPr>
              <a:t>Socket 부모 클래스를 상속한 TCP / UDP 1:1 채팅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1635760" cy="457200"/>
          </a:xfrm>
          <a:prstGeom prst="roundRect">
            <a:avLst>
              <a:gd name="adj" fmla="val 50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6357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SocketBase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87320" y="4754880"/>
            <a:ext cx="1536192" cy="457200"/>
          </a:xfrm>
          <a:prstGeom prst="roundRect">
            <a:avLst>
              <a:gd name="adj" fmla="val 50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87320" y="4754880"/>
            <a:ext cx="153619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TcpSocket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2112" y="4754880"/>
            <a:ext cx="1536192" cy="457200"/>
          </a:xfrm>
          <a:prstGeom prst="roundRect">
            <a:avLst>
              <a:gd name="adj" fmla="val 50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2112" y="4754880"/>
            <a:ext cx="153619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UdpSocket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6904" y="4754880"/>
            <a:ext cx="1173480" cy="457200"/>
          </a:xfrm>
          <a:prstGeom prst="roundRect">
            <a:avLst>
              <a:gd name="adj" fmla="val 50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6904" y="4754880"/>
            <a:ext cx="11734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다형성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C99A3"/>
                </a:solidFill>
                <a:latin typeface="맑은 고딕"/>
                <a:ea typeface="맑은 고딕"/>
              </a:rPr>
              <a:t>SW 개발 기초 세미나  ·  C# / WPF (.NET 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프로그램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하나의 화면에서 TCP 서버 / TCP 클라이언트 / UDP 방식을 선택해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691640"/>
            <a:ext cx="411480" cy="41148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64208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TCP 서버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내 포트로 Listen → Accept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클라이언트 1명 접속 후 송수신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46304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0" y="1691640"/>
            <a:ext cx="411480" cy="41148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1664208"/>
            <a:ext cx="2468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TCP 클라이언트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24028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상대 IP · 포트로 Connect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연결 후 '\n' 구분으로 메시지 송수신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4069080"/>
            <a:ext cx="411480" cy="41148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041648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UDP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1772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내 포트 Bind + 상대 주소로 SendTo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연결 과정 없이 바로 송수신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20" y="384048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89120" y="4069080"/>
            <a:ext cx="411480" cy="41148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59" y="4041648"/>
            <a:ext cx="2468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공통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61772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수신은 백그라운드 스레드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UTF-8로 한글 송수신, Enter 키 전송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1463040"/>
            <a:ext cx="3703320" cy="4572000"/>
          </a:xfrm>
          <a:prstGeom prst="roundRect">
            <a:avLst>
              <a:gd name="adj" fmla="val 8000"/>
            </a:avLst>
          </a:prstGeom>
          <a:solidFill>
            <a:srgbClr val="FBE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파일 구성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14884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SocketBase.cs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244144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추상 부모 : 공통 필드 · 스레드 · 이벤트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92608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TcpSocket.cs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321868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TCP 구현 (서버/클라이언트)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70332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UdpSocket.cs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99592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UDP 구현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480559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MainWindow.xaml(.cs)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477316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설정 · 대화 목록 · 입력 화면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257799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App.xaml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5550407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프로그램 시작점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클래스 구조 (상속)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공통 기능은 부모에, 프로토콜별 차이는 자식에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1417320"/>
            <a:ext cx="5029200" cy="1965960"/>
          </a:xfrm>
          <a:prstGeom prst="roundRect">
            <a:avLst>
              <a:gd name="adj" fmla="val 8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39" y="1508760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</a:rPr>
              <a:t>SocketBase  (abstract)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011680"/>
            <a:ext cx="4480560" cy="1325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  <a:ea typeface="맑은 고딕"/>
              </a:rPr>
              <a:t>필드 : socket, isRunning, bufferSize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  <a:ea typeface="맑은 고딕"/>
              </a:rPr>
              <a:t>abstract : Open() · Send() · ReceiveLoop()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  <a:ea typeface="맑은 고딕"/>
              </a:rPr>
              <a:t>공통 : StartThread() · Close() · 이벤트 2개</a:t>
            </a:r>
          </a:p>
        </p:txBody>
      </p:sp>
      <p:sp>
        <p:nvSpPr>
          <p:cNvPr id="8" name="Up Arrow 7"/>
          <p:cNvSpPr/>
          <p:nvPr/>
        </p:nvSpPr>
        <p:spPr>
          <a:xfrm>
            <a:off x="4343400" y="3520440"/>
            <a:ext cx="411480" cy="502920"/>
          </a:xfrm>
          <a:prstGeom prst="up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Up Arrow 8"/>
          <p:cNvSpPr/>
          <p:nvPr/>
        </p:nvSpPr>
        <p:spPr>
          <a:xfrm>
            <a:off x="8183880" y="3520440"/>
            <a:ext cx="411480" cy="502920"/>
          </a:xfrm>
          <a:prstGeom prst="up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3566160"/>
            <a:ext cx="1920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상속 (: SocketBase)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4114800"/>
            <a:ext cx="4480560" cy="16002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40" y="4187952"/>
            <a:ext cx="40233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2621B"/>
                </a:solidFill>
                <a:latin typeface="Consolas"/>
                <a:ea typeface="맑은 고딕"/>
              </a:rPr>
              <a:t>TcpSocket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599432"/>
            <a:ext cx="40233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· isServer, listenSocket 추가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· 서버 : Bind → Listen → Accept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· 클라이언트 : Connect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· '\n' 기준 메시지 분리, Close() 확장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114800"/>
            <a:ext cx="4480560" cy="16002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87952"/>
            <a:ext cx="40233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2621B"/>
                </a:solidFill>
                <a:latin typeface="Consolas"/>
                <a:ea typeface="맑은 고딕"/>
              </a:rPr>
              <a:t>UdpSocket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99432"/>
            <a:ext cx="40233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· remoteEndPoint 추가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· Bind 후 SendTo / ReceiveFrom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· 1회 수신 = 메시지 1건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· ConnectionReset 예외 무시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8000"/>
            </a:avLst>
          </a:prstGeom>
          <a:solidFill>
            <a:srgbClr val="FBE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2621B"/>
                </a:solidFill>
                <a:latin typeface="맑은 고딕"/>
                <a:ea typeface="맑은 고딕"/>
              </a:rPr>
              <a:t>MainWindow : </a:t>
            </a: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SocketBase chatSocket = new TcpSocket(true) / new UdpSocket();  → 같은 코드로 Send · Close (다형성)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TCP vs UDP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두 버전을 만들며 비교한 전송 계층 프로토콜의 차이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361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03120"/>
                <a:gridCol w="4480560"/>
                <a:gridCol w="448056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TCP (SocketType.Stream)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UDP (SocketType.Dgram)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연결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연결형 : 3-way handshake 후 통신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비연결형 : 연결 없이 바로 전송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신뢰성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순서 보장, 손실 시 재전송, 흐름/혼잡 제어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보장 없음 (손실 · 순서 바뀜 가능)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데이터 단위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스트림 : 메시지 경계 없음 → '\n' 구분자 사용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데이터그램 : 보낸 단위 그대로 1건씩 도착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속도 · 헤더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상대적으로 느림, 헤더 20 byte~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빠르고 가벼움, 헤더 8 byte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주요 함수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Bind · Listen · Accept / Connect · Send · Receive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Bind · SendTo · ReceiveFrom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활용 예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파일 전송, 웹(HTTP), 원격 명령 제어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실시간 영상 · 음성, 텔레메트리 주기 송신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통신 흐름 (함수 호출 순서)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Accept / Receive / ReceiveFrom은 블로킹 → 별도 스레드에서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103120" cy="10058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9202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TCP 서버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1737360"/>
            <a:ext cx="1234440" cy="731520"/>
          </a:xfrm>
          <a:prstGeom prst="roundRect">
            <a:avLst>
              <a:gd name="adj" fmla="val 8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1783080"/>
            <a:ext cx="1051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Socket()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15384" y="1938528"/>
            <a:ext cx="301752" cy="329184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1737360"/>
            <a:ext cx="1234440" cy="731520"/>
          </a:xfrm>
          <a:prstGeom prst="roundRect">
            <a:avLst>
              <a:gd name="adj" fmla="val 8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783080"/>
            <a:ext cx="1051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Bind()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61304" y="1938528"/>
            <a:ext cx="301752" cy="329184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1234440" cy="731520"/>
          </a:xfrm>
          <a:prstGeom prst="roundRect">
            <a:avLst>
              <a:gd name="adj" fmla="val 8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783080"/>
            <a:ext cx="1051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Listen()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507224" y="1938528"/>
            <a:ext cx="301752" cy="329184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63840" y="1737360"/>
            <a:ext cx="1234440" cy="731520"/>
          </a:xfrm>
          <a:prstGeom prst="roundRect">
            <a:avLst>
              <a:gd name="adj" fmla="val 8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1783080"/>
            <a:ext cx="1051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Accept()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153144" y="1938528"/>
            <a:ext cx="301752" cy="329184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509760" y="173736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0" y="1783080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Receive / Send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108960"/>
            <a:ext cx="2103120" cy="10058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08960"/>
            <a:ext cx="19202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TCP 클라이언트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26080" y="3246120"/>
            <a:ext cx="1234440" cy="731520"/>
          </a:xfrm>
          <a:prstGeom prst="roundRect">
            <a:avLst>
              <a:gd name="adj" fmla="val 8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3291839"/>
            <a:ext cx="1051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Socket()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215384" y="3447288"/>
            <a:ext cx="301752" cy="329184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0" y="3246120"/>
            <a:ext cx="1234440" cy="731520"/>
          </a:xfrm>
          <a:prstGeom prst="roundRect">
            <a:avLst>
              <a:gd name="adj" fmla="val 8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3291839"/>
            <a:ext cx="1051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Connect()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861304" y="3447288"/>
            <a:ext cx="301752" cy="329184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0" y="324612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3291839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Send / Receive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617720"/>
            <a:ext cx="2103120" cy="10058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9202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UDP (양쪽 동일)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26080" y="4754880"/>
            <a:ext cx="1234440" cy="731520"/>
          </a:xfrm>
          <a:prstGeom prst="roundRect">
            <a:avLst>
              <a:gd name="adj" fmla="val 8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17520" y="4800600"/>
            <a:ext cx="1051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Socket()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4215384" y="4956048"/>
            <a:ext cx="301752" cy="329184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72000" y="4754880"/>
            <a:ext cx="1234440" cy="731520"/>
          </a:xfrm>
          <a:prstGeom prst="roundRect">
            <a:avLst>
              <a:gd name="adj" fmla="val 8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63440" y="4800600"/>
            <a:ext cx="1051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Bind()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5861304" y="4956048"/>
            <a:ext cx="301752" cy="329184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17920" y="475488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0" y="4800600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SendTo / ReceiveFrom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※ 서버의 Accept()는 접속한 클라이언트와 통신할 새 소켓을 반환 → listenSocket(대기용)과 socket(통신용)을 분리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핵심 구현 포인트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실제 동작에 꼭 필요했던 4가지 처리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691640"/>
            <a:ext cx="411480" cy="41148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64208"/>
            <a:ext cx="448055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수신 스레드 분리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49834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Receive / Accept는 데이터가 올 때까지 멈춤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UI 스레드에서 호출하면 화면 정지 → Thread(IsBackground = true)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0" y="1691640"/>
            <a:ext cx="411480" cy="41148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664208"/>
            <a:ext cx="448055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Dispatcher.BeginInvoke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40280"/>
            <a:ext cx="49834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WPF 컨트롤은 UI 스레드에서만 접근 가능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수신 스레드 → Dispatcher로 UI 스레드에 작업 전달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4069080"/>
            <a:ext cx="411480" cy="41148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041648"/>
            <a:ext cx="448055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TCP 메시지 경계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17720"/>
            <a:ext cx="49834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'안녕\n반가워\n'이 한 번에 / 잘려서 도착 가능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pendingText에 모은 뒤 '\n'마다 잘라 전달, Decoder로 한글 보호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84048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0" y="4069080"/>
            <a:ext cx="411480" cy="41148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4041648"/>
            <a:ext cx="448055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UDP ConnectionReset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617720"/>
            <a:ext cx="49834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상대가 꺼져 있으면 ICMP Port Unreachable 수신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Windows가 예외로 알림 → 무시하고 계속 수신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코드 : TCP 수신 반복문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TcpSocket.ReceiveLoop() – 스트림을 메시지 단위로 분리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6583679" cy="4297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while (isRunning)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{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int receivedLength = socket.Receive(receiveBuffer);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if (receivedLength == 0) break;   // 상대 종료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// 바이트 → 문자 (잘린 한글도 이어서 변환)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utf8Decoder.GetChars(..., receivedChars, 0);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pendingText += new string(receivedChars);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// '\n'이 나올 때마다 메시지 1건으로 전달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while ((newLineIndex = pendingText.IndexOf('\n')) &gt;= 0)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{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    OnMessageReceived(pendingText.Substring(0, newLineIndex));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    pendingText = pendingText.Substring(newLineIndex + 1);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46304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600200"/>
            <a:ext cx="34747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621B"/>
                </a:solidFill>
                <a:latin typeface="맑은 고딕"/>
                <a:ea typeface="맑은 고딕"/>
              </a:rPr>
              <a:t>Receive() 반환값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029968"/>
            <a:ext cx="34747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실제 받은 바이트 수. 0이면 상대가 정상 종료(FIN)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01752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3154679"/>
            <a:ext cx="34747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621B"/>
                </a:solidFill>
                <a:latin typeface="맑은 고딕"/>
                <a:ea typeface="맑은 고딕"/>
              </a:rPr>
              <a:t>Decoder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3584448"/>
            <a:ext cx="34747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UTF-8 한글은 3바이트 → 경계가 잘려 와도 다음 수신과 합쳐 변환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457200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4709160"/>
            <a:ext cx="34747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621B"/>
                </a:solidFill>
                <a:latin typeface="맑은 고딕"/>
                <a:ea typeface="맑은 고딕"/>
              </a:rPr>
              <a:t>OnMessageReceived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5138928"/>
            <a:ext cx="34747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부모의 이벤트를 발생 → MainWindow가 받아 화면에 표시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관련 지식 (예상 질문)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코드와 함께 질문받을 수 있는 배경 지식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618488"/>
            <a:ext cx="384048" cy="384048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추상 클래스 vs 인터페이스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추상 클래스 : 필드 · 구현 코드 포함 가능, 단일 상속. 인터페이스 : 규칙(시그니처)만, 다중 구현 가능. 공통 코드가 있어 추상 클래스 선택.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44568" y="1618488"/>
            <a:ext cx="384048" cy="384048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abstract / virtual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abstract : 구현 없음, 자식이 반드시 override. virtual : 기본 구현 제공, 필요하면 override. (Close는 virtual → TCP가 listenSocket 정리 추가)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39328" y="1618488"/>
            <a:ext cx="384048" cy="384048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3-way handshake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TCP 연결 수립 과정 : SYN → SYN+ACK → ACK. Connect()와 Accept() 사이에서 OS가 수행. 종료는 FIN 교환.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9808" y="4087368"/>
            <a:ext cx="384048" cy="384048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IP · 포트 · 127.0.0.1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IP = 컴퓨터 주소, 포트 = 프로그램 번호(0~65535). 127.0.0.1은 자기 자신(Loopback). IPAddress.Any = 내 PC의 모든 IP로 수신.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44568" y="4087368"/>
            <a:ext cx="384048" cy="384048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블로킹과 스레드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블로킹 함수는 결과가 올 때까지 반환하지 않음. 그래서 수신을 별도 스레드로 분리. volatile : 다른 스레드가 바꾼 isRunning 값을 즉시 읽음.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39328" y="4087368"/>
            <a:ext cx="384048" cy="384048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이벤트 Action&lt;string&gt;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Action&lt;string&gt; = string 하나를 받는 메서드 델리게이트. 소켓은 UI를 모른 채 이벤트만 발생 → 결합도 낮춤.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변수 명명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모든 변수는 camelCase · C# 표준 규칙과 함께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C2621B"/>
                </a:solidFill>
                <a:latin typeface="맑은 고딕"/>
                <a:ea typeface="맑은 고딕"/>
              </a:rPr>
              <a:t>camelCase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변수 · 필드 · 상수 · 매개변수 · 컨트롤 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첫 단어 소문자, 이후 단어 첫 글자만 대문자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약어 대신 의미가 드러나는 완전한 단어 사용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bool은 is / has 접두어 → if문이 문장처럼 읽힘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remoteIp / localPort
isRunning / isServer
receiveBuffer
chatSocket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C2621B"/>
                </a:solidFill>
                <a:latin typeface="맑은 고딕"/>
                <a:ea typeface="맑은 고딕"/>
              </a:rPr>
              <a:t>PascalCase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클래스 · 메서드 · 속성 · 이벤트 (변수 아님)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C# 공식 명명 규칙(Microsoft 가이드)을 따름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변수(camelCase)와 한눈에 구분됨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속성은 XAML 바인딩 대상이라 PascalCase 유지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abstract class SocketBase
Open() / Send()
IsReady
MessageReceived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C2621B"/>
                </a:solidFill>
                <a:latin typeface="맑은 고딕"/>
                <a:ea typeface="맑은 고딕"/>
              </a:rPr>
              <a:t>컨트롤 접미어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XAML x:Name (화면 컨트롤 변수)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의미 + 컨트롤 종류 순서로 이름 작성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코드에서 이름만 보고 타입을 알 수 있음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예: TextBox / Button / ListBox / ComboBox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protocolComboBox
remoteIpTextBox
connectButton
chatListBox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(1/4)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bufferSize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SocketBase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1회 수신 최대 바이트 (1024)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buffer + Size → 무엇의 크기인지 명시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socket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Socket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필드(protected) · SocketBase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실제 송수신 소켓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타입명 그대로 → 클래스 안의 '그 소켓' 하나뿐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isRunning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volatile bool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필드(protected) · SocketBase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수신 스레드 동작 여부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bool은 is 접두어 → while (isRunning)이 문장처럼 읽힘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remoteIp / remotePort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 / 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Open / 지역 · MainWindow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상대방 IP 주소 / 포트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remote(상대) ↔ local(내 쪽) 대비로 방향 구분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localPort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Open / 지역 · MainWindow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내 PC에서 사용할 포트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local = 내 컴퓨터, 네트워크 용어 그대로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message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Send / OnMessageReceived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주고받는 채팅 문장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채팅 '메시지' 그 자체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status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OnStatusChanged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접속 · 종료 상태 문장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StatusChanged 이벤트와 같은 단어로 연결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(2/4)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work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ThreadStart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StartThread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스레드가 실행할 함수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스레드가 수행할 '작업'이라는 의미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workThread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Thread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StartThread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새로 만든 백그라운드 스레드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work를 실행하는 Thread → 두 단어 결합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isServer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readonly bool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TcpSocket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서버 / 클라이언트 역할 구분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is 접두어 bool → true = 서버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listenSocket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Socket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TcpSocket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접속 대기(Listen) 전용 소켓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Listen 용도 소켓 → 통신용 socket과 구분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sendData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byte[]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Send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전송할 UTF-8 바이트 배열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보낼(send) 데이터 → 방향 + 내용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receiveBuffer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byte[]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ReceiveLoop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수신 바이트 임시 저장소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받는(receive) 용도 버퍼 → sendData와 대비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utf8Decoder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Decoder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TcpSocket.ReceiveLoop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잘린 한글 바이트를 이어서 변환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인코딩 종류(utf8) + 역할(Decoder)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(3/4)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pendingText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TcpSocket.ReceiveLoop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'\n' 전까지 쌓인 미완성 문자열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pending(대기 중) → 아직 처리 안 된 텍스트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receivedLength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ReceiveLoop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실제로 받은 바이트 수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과거형 received → 이미 받은 결과 값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receivedChars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char[]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TcpSocket.ReceiveLoop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바이트 → 문자 변환 결과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받은 데이터를 문자(char) 배열로 바꾼 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newLineIndex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TcpSocket.ReceiveLoop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'\n' 문자의 위치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찾는 대상(newLine) + 값 형태(Index)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remoteEndPoint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IPEndPoint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UdpSocket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보낼 상대 주소 (IP + 포트)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remote + .NET 용어 EndPoint(통신 끝점)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senderEndPoint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EndPoint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UdpSocket.ReceiveLoop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메시지를 보낸 쪽 주소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보낸 쪽(sender) 주소 → remote와 구분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ex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Exception 계열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catch 매개변수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발생한 예외 정보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C# 관례적 예외 변수명 (exception)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(4/4)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2606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chatSocket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SocketBase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MainWindow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현재 채팅에 쓰는 소켓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용도(chat) + 부모 타입이라 TCP/UDP 모두 담음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protocolIndex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CreateSocket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ComboBox 선택 번호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프로토콜 선택값의 '순번'임을 표시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text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AddChatLine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대화 목록에 추가할 한 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메시지 · 상태 등 모든 문장을 받는 일반 이름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isConnected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bool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SetConnectedUi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연결 상태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is 접두어 bool, 메서드 이름과 같은 단어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화면 컨트롤 이름 (x:Name)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XAML에서 선언한 컨트롤 변수 · 의미 + 컨트롤 종류 접미어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526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08960"/>
                <a:gridCol w="1737360"/>
                <a:gridCol w="6217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컨트롤 이름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종류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protocolComboBox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ComboBox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방식 선택 (TCP 서버 / TCP 클라이언트 / UDP)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localPortTextBox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내 포트 입력 (TCP 서버, UDP)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remoteIpTextBox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상대 IP 입력 (TCP 클라이언트, UDP)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remotePortTextBox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상대 포트 입력 (TCP 클라이언트, UDP)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connectButton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소켓 생성 및 연결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disconnectButton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연결 해제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chatListBox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ListBox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대화 · 시스템 메시지 목록 (시간 표시)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messageTextBox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보낼 메시지 입력 (Enter 키 전송)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sendButton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메시지 전송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동작 확인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같은 PC에서 프로그램 2개를 실행하여 확인 (다른 PC면 상대 IP 입력 + 방화벽 허용)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440680" cy="4572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59" y="1691640"/>
            <a:ext cx="457200" cy="45720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91640"/>
            <a:ext cx="42976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E2A33"/>
                </a:solidFill>
                <a:latin typeface="맑은 고딕"/>
                <a:ea typeface="맑은 고딕"/>
              </a:rPr>
              <a:t>TCP 테스트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377440"/>
            <a:ext cx="493776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① A 창 : 'TCP 서버', 내 포트 9000 → [연결]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   → '서버 대기 중' 표시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② B 창 : 'TCP 클라이언트', 상대 127.0.0.1 : 9000 → [연결]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   → A에 '클라이언트 접속' 표시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③ 양쪽에서 메시지 입력 후 Enter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④ B를 닫으면 A에 '상대방 연결 종료' 표시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440680" cy="4572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46520" y="1691640"/>
            <a:ext cx="457200" cy="45720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691640"/>
            <a:ext cx="42976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E2A33"/>
                </a:solidFill>
                <a:latin typeface="맑은 고딕"/>
                <a:ea typeface="맑은 고딕"/>
              </a:rPr>
              <a:t>UDP 테스트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77440"/>
            <a:ext cx="493776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① A 창 : 'UDP', 내 포트 9000 / 상대 127.0.0.1 : 9001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② B 창 : 'UDP', 내 포트 9001 / 상대 127.0.0.1 : 9000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③ 양쪽 [연결] 후 메시지 송수신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④ B를 끄고 A에서 전송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   → 오류 없이 전송됨 (UDP는 도착 확인 없음)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